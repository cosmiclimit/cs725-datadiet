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9" r:id="rId4"/>
    <p:sldId id="267" r:id="rId5"/>
    <p:sldId id="260" r:id="rId6"/>
    <p:sldId id="266" r:id="rId7"/>
    <p:sldId id="269" r:id="rId8"/>
    <p:sldId id="270" r:id="rId9"/>
    <p:sldId id="274" r:id="rId10"/>
    <p:sldId id="275" r:id="rId11"/>
    <p:sldId id="279" r:id="rId12"/>
    <p:sldId id="280" r:id="rId13"/>
    <p:sldId id="281" r:id="rId14"/>
    <p:sldId id="282" r:id="rId15"/>
    <p:sldId id="283" r:id="rId16"/>
    <p:sldId id="284" r:id="rId17"/>
    <p:sldId id="286" r:id="rId18"/>
    <p:sldId id="287" r:id="rId19"/>
    <p:sldId id="288" r:id="rId20"/>
    <p:sldId id="263" r:id="rId21"/>
    <p:sldId id="29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3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We are Team DataDiet. I am Rahul Paul, and my teammates are Ayan Barman, Banibrata Manna and Tejas Itankar.</a:t>
            </a:r>
          </a:p>
          <a:p>
            <a:endParaRPr/>
          </a:p>
          <a:p>
            <a:r>
              <a:t>Our project is called "Train on Less equals Pay for Less?". The question is simple: if we train a neural network on fewer training pictures, do we really save time, and do we still get the same accuracy?</a:t>
            </a:r>
          </a:p>
          <a:p>
            <a:endParaRPr/>
          </a:p>
          <a:p>
            <a:r>
              <a:t>In the next few minutes we will show why this question matters, what we built, what we found on the CIFAR-10 dataset so far, and what we will do after the mid-term.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us start with why this matters.</a:t>
            </a:r>
          </a:p>
          <a:p>
            <a:endParaRPr/>
          </a:p>
          <a:p>
            <a:r>
              <a:t>When we train a neural network, it looks at every training picture, again and again. One full pass over all the pictures is called an epoch. Our dataset has 50,000 training pictures and we train for 60 epochs, so one single training run looks at a picture 3 million times. And this is a small dataset; real ones have millions of pictures.</a:t>
            </a:r>
          </a:p>
          <a:p>
            <a:endParaRPr/>
          </a:p>
          <a:p>
            <a:r>
              <a:t>On top of that, nobody trains only once. Every time we try a new setting, a new random seed or a new model, we pay the full cost again.</a:t>
            </a:r>
          </a:p>
          <a:p>
            <a:endParaRPr/>
          </a:p>
          <a:p>
            <a:r>
              <a:t>All of this costs GPU time, money and electricity, and the cost grows with the amount of data. So if we could train on less data, we would directly save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But do we really need every picture? Think of revising for an exam: you do not keep re-reading the questions you already know; you practise the ones you keep getting wrong. Training data is similar. Roughly, pictures fall into three groups.</a:t>
            </a:r>
          </a:p>
          <a:p>
            <a:endParaRPr/>
          </a:p>
          <a:p>
            <a:r>
              <a:t>Redundant pictures: clear, typical pictures, like a red car in the middle of the photo. Many of them look alike. The model learns them in the first few epochs, and after that they teach it very little, but they still cost time in every epoch.</a:t>
            </a:r>
          </a:p>
          <a:p>
            <a:endParaRPr/>
          </a:p>
          <a:p>
            <a:r>
              <a:t>Informative pictures: unusual or tricky ones, like a strange angle or a small object. The model can still learn something from them.</a:t>
            </a:r>
          </a:p>
          <a:p>
            <a:endParaRPr/>
          </a:p>
          <a:p>
            <a:r>
              <a:t>Harmful pictures: some are so blurry that even a person cannot tell the class, and some have the wrong label in the dataset. These can actually confuse the model.</a:t>
            </a:r>
          </a:p>
          <a:p>
            <a:endParaRPr/>
          </a:p>
          <a:p>
            <a:r>
              <a:t>So if we could find the pictures that teach little and remove them, we could save time without losing much accuracy.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do that, we need to say clearly which pictures are easy and which are hard.</a:t>
            </a:r>
          </a:p>
          <a:p>
            <a:endParaRPr/>
          </a:p>
          <a:p>
            <a:r>
              <a:t>An easy picture is one the model learns quickly: early in training it already gets it right, and it is confident. A hard picture is one the model still gets wrong, or is unsure about, after training for a while. Hard pictures are often odd, unclear, or wrongly labelled.</a:t>
            </a:r>
          </a:p>
          <a:p>
            <a:endParaRPr/>
          </a:p>
          <a:p>
            <a:r>
              <a:t>We measure this with a number called EL2N, shown in the dark box. For every picture, the model gives a probability for each class; that is its guess. The right answer is written as 1 for the true class and 0 for all others. EL2N is simply the distance between the guess and the right answer.</a:t>
            </a:r>
          </a:p>
          <a:p>
            <a:endParaRPr/>
          </a:p>
          <a:p>
            <a:r>
              <a:t>The three charts show it. Blue bars are the model's guess, striped bars are the right answer.</a:t>
            </a:r>
          </a:p>
          <a:p>
            <a:r>
              <a:t>- Left: a clear cat. The model says "cat" with almost 100%, so the gap is tiny: EL2N is 0.014. Easy.</a:t>
            </a:r>
          </a:p>
          <a:p>
            <a:r>
              <a:t>- Middle: an ordinary cat. The model says cat with about 65%, so there is some gap: 0.43.</a:t>
            </a:r>
          </a:p>
          <a:p>
            <a:r>
              <a:t>- Right: the same kind of picture, but labelled "dog" by mistake. The model's guess is far from that label: EL2N is about 1.0. Hard.</a:t>
            </a:r>
          </a:p>
          <a:p>
            <a:endParaRPr/>
          </a:p>
          <a:p>
            <a:r>
              <a:t>The score goes from 0, perfectly right, to about 1.41, completely sure of the wrong answer. We compute it with a model trained for only 20 epochs, and we average it over three such models to make it stable.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this score, data pruning works in three steps, left to right in the picture.</a:t>
            </a:r>
          </a:p>
          <a:p>
            <a:endParaRPr/>
          </a:p>
          <a:p>
            <a:r>
              <a:t>Step 1, score: give every training picture its EL2N score.</a:t>
            </a:r>
          </a:p>
          <a:p>
            <a:r>
              <a:t>Step 2, keep: sort the pictures by score and keep only a part of them, for example the hardest 70% or 50%. The rest are thrown away.</a:t>
            </a:r>
          </a:p>
          <a:p>
            <a:r>
              <a:t>Step 3, train: train a brand-new model only on the kept pictures. With half the pictures, each epoch has half the work, so training takes about half the time.</a:t>
            </a:r>
          </a:p>
          <a:p>
            <a:endParaRPr/>
          </a:p>
          <a:p>
            <a:r>
              <a:t>Now the catch, written at the bottom. Step 1 is not free. To compute the scores, we first have to train a model, and that takes GPU time too. Most papers only report how much data they kept and how accurate the model was. They usually do not say how long the scoring took. Our project counts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here is exactly the problem we are solving.</a:t>
            </a:r>
          </a:p>
          <a:p>
            <a:endParaRPr/>
          </a:p>
          <a:p>
            <a:r>
              <a:t>First, accuracy: pick a subset of the 50,000 CIFAR-10 training pictures so that a ResNet-18 trained on it gets within about 1 point of the full-data accuracy, which is 94.3%.</a:t>
            </a:r>
          </a:p>
          <a:p>
            <a:endParaRPr/>
          </a:p>
          <a:p>
            <a:r>
              <a:t>Second, time: count everything. The time to make the scores plus the time to train on the subset must be less than one normal training run on all the data. Otherwise we have not saved anything.</a:t>
            </a:r>
          </a:p>
          <a:p>
            <a:endParaRPr/>
          </a:p>
          <a:p>
            <a:r>
              <a:t>Third, our mid-term task: measure the standard method, EL2N, honestly, both for accuracy and for time, and compare it with two simple options: picking pictures at random, and simply training on all the data for fewer epochs.</a:t>
            </a:r>
          </a:p>
          <a:p>
            <a:endParaRPr/>
          </a:p>
          <a:p>
            <a:r>
              <a:t>Why it matters: models are retrained many times, for new settings, new seeds and new models. If a scorer can pick a good subset cheaply, every one of those runs becomes cheaper. And our measurements tell us exactly when pruning pays off and when it does not.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judge success we need a clear definition of a good subset. We check four things.</a:t>
            </a:r>
          </a:p>
          <a:p>
            <a:endParaRPr/>
          </a:p>
          <a:p>
            <a:r>
              <a:t>One, accurate: within about 1 point of using all the data, so about 93.3% or more.</a:t>
            </a:r>
          </a:p>
          <a:p>
            <a:endParaRPr/>
          </a:p>
          <a:p>
            <a:r>
              <a:t>Two, small: it keeps 70% of the pictures or fewer. Keeping 90% saves very little.</a:t>
            </a:r>
          </a:p>
          <a:p>
            <a:endParaRPr/>
          </a:p>
          <a:p>
            <a:r>
              <a:t>Three, better than the simple options: it must beat a random set of the same size, otherwise the scoring was pointless. And ideally it should also beat simply training on all the data for less time.</a:t>
            </a:r>
          </a:p>
          <a:p>
            <a:endParaRPr/>
          </a:p>
          <a:p>
            <a:r>
              <a:t>Four, cheaper: scoring plus training must take less time than one normal training run.</a:t>
            </a:r>
          </a:p>
          <a:p>
            <a:endParaRPr/>
          </a:p>
          <a:p>
            <a:r>
              <a:t>The first three are about accuracy; the fourth is about time. The next slide shows how we measure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use three letters.</a:t>
            </a:r>
          </a:p>
          <a:p>
            <a:endParaRPr/>
          </a:p>
          <a:p>
            <a:r>
              <a:t>F is the time of one normal training run: all the data, 60 epochs. We call it 100%. On our GPU it takes 143 seconds.</a:t>
            </a:r>
          </a:p>
          <a:p>
            <a:endParaRPr/>
          </a:p>
          <a:p>
            <a:r>
              <a:t>S is the time to make the scores: training the scorer models and then scoring every picture.</a:t>
            </a:r>
          </a:p>
          <a:p>
            <a:endParaRPr/>
          </a:p>
          <a:p>
            <a:r>
              <a:t>f is the share of the data we keep, for example 0.5 for half. Training on it takes about f times F.</a:t>
            </a:r>
          </a:p>
          <a:p>
            <a:endParaRPr/>
          </a:p>
          <a:p>
            <a:r>
              <a:t>So the total cost of pruning is S plus f times F: first we pay for scoring, then for training on the subset. Pruning only saves time if this total is smaller than F. Rearranged, that means f must be smaller than 1 minus S over F.</a:t>
            </a:r>
          </a:p>
          <a:p>
            <a:endParaRPr/>
          </a:p>
          <a:p>
            <a:r>
              <a:t>Two quick examples. If scoring costs a tenth of a full run, we save time whenever we keep less than 90% of the data. But if scoring costs as much as a full run or more, we can never save time, however few pictures we keep.</a:t>
            </a:r>
          </a:p>
          <a:p>
            <a:endParaRPr/>
          </a:p>
          <a:p>
            <a:r>
              <a:t>All times are real measured GPU time, on the same kind of GPU, an NVIDIA L40S, for every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three trees show every run we did for the mid-term, and how the totals add up. Every setting is repeated with 3 random seeds, so we can see how much results change by chance.</a:t>
            </a:r>
          </a:p>
          <a:p>
            <a:endParaRPr/>
          </a:p>
          <a:p>
            <a:r>
              <a:t>First tree, baselines, 27 runs. These need no scores.</a:t>
            </a:r>
          </a:p>
          <a:p>
            <a:r>
              <a:t>- All data for 60 epochs: 1 setting times 3 seeds, 3 runs. This is the accuracy we want to match.</a:t>
            </a:r>
          </a:p>
          <a:p>
            <a:r>
              <a:t>- Random picking: keep a random 90, 70, 50 or 30% of the pictures. 4 sizes times 3 seeds, 12 runs.</a:t>
            </a:r>
          </a:p>
          <a:p>
            <a:r>
              <a:t>- Fewer epochs: keep all pictures, but train for only 54, 42, 30 or 18 epochs. 4 lengths times 3 seeds, 12 runs.</a:t>
            </a:r>
          </a:p>
          <a:p>
            <a:r>
              <a:t>3 plus 12 plus 12 is 27.</a:t>
            </a:r>
          </a:p>
          <a:p>
            <a:endParaRPr/>
          </a:p>
          <a:p>
            <a:r>
              <a:t>Second tree, scoring, 3 runs: one ResNet-18 scorer trained 3 times with seeds 1000, 1001 and 1002.</a:t>
            </a:r>
          </a:p>
          <a:p>
            <a:endParaRPr/>
          </a:p>
          <a:p>
            <a:r>
              <a:t>Third tree, the main experiment, 24 runs: using the scores, keep the hardest or the easiest pictures, at the same four sizes, each with 3 seeds. 12 plus 12 is 24.</a:t>
            </a:r>
          </a:p>
          <a:p>
            <a:endParaRPr/>
          </a:p>
          <a:p>
            <a:r>
              <a:t>In total, 54 runs: 51 training runs and 3 scorer runs. Every training run trains a brand-new ResNet-18 from scratch.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exactly how the scores are made. The scorer is just an ordinary ResNet-18; the only special thing is that we stop it early.</a:t>
            </a:r>
          </a:p>
          <a:p>
            <a:endParaRPr/>
          </a:p>
          <a:p>
            <a:r>
              <a:t>Step 1, train it on all 50,000 pictures with exactly the same recipe as every other run.</a:t>
            </a:r>
          </a:p>
          <a:p>
            <a:r>
              <a:t>Step 2, stop early, at epoch 20 out of a planned 60. At that point it gets about 84% of the test pictures right.</a:t>
            </a:r>
          </a:p>
          <a:p>
            <a:r>
              <a:t>Step 3, score: give every training picture, in its original form, its EL2N score.</a:t>
            </a:r>
          </a:p>
          <a:p>
            <a:r>
              <a:t>Step 4, average: we do this three times with different seeds and average the three scores, so each picture gets one score.</a:t>
            </a:r>
          </a:p>
          <a:p>
            <a:endParaRPr/>
          </a:p>
          <a:p>
            <a:r>
              <a:t>Why stop at epoch 20? If we trained the scorer to the end, it would memorise every training picture and be almost 100% sure about each one. Then every score would be close to zero and we could not tell easy from hard.</a:t>
            </a:r>
          </a:p>
          <a:p>
            <a:endParaRPr/>
          </a:p>
          <a:p>
            <a:r>
              <a:t>Why three scorers? One scorer's scores depend a little on its random start. The average of three gives a more stable ranking.</a:t>
            </a:r>
          </a:p>
          <a:p>
            <a:endParaRPr/>
          </a:p>
          <a:p>
            <a:r>
              <a:t>The cost: three runs of 20 epochs is about the same as one full 60-epoch run. We measured it: S is 1.16 times F. We come back to this number in the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results, starting with the baselines the TA asked us to have ready. Every number is the average of three runs.</a:t>
            </a:r>
          </a:p>
          <a:p>
            <a:endParaRPr/>
          </a:p>
          <a:p>
            <a:r>
              <a:t>Top table: all data for 60 epochs gives 94.32%. A random 90% of the pictures gives 93.84%, 70% gives 92.94%, 50% gives 90.97%, and 30% gives only 86.42%. So keeping a random 90% is almost free, but throwing away more and more data hurts more and more.</a:t>
            </a:r>
          </a:p>
          <a:p>
            <a:endParaRPr/>
          </a:p>
          <a:p>
            <a:r>
              <a:t>Bottom table: all the data, but fewer epochs. 54 epochs gives 94.22%, 42 gives 93.99%, 30 gives 92.92%, and 18 gives 91.29%.</a:t>
            </a:r>
          </a:p>
          <a:p>
            <a:endParaRPr/>
          </a:p>
          <a:p>
            <a:r>
              <a:t>The columns line up on purpose: 54 epochs on all the data costs the same as keeping 90% of the pictures for 60 epochs; 42 epochs matches 70%, 30 matches 50%, and 18 matches 30%. Both use the same number of training steps and about the same GPU time.</a:t>
            </a:r>
          </a:p>
          <a:p>
            <a:endParaRPr/>
          </a:p>
          <a:p>
            <a:r>
              <a:t>The surprise: at every budget, using all the data for fewer epochs beats picking a random subset. At 30% the difference is about 5 points.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plot shows the same baseline numbers as a picture. Across is the training budget, as a share of one full run. Up is test accuracy. The dashed line at the top is all the data, 94.32%.</a:t>
            </a:r>
          </a:p>
          <a:p>
            <a:endParaRPr/>
          </a:p>
          <a:p>
            <a:r>
              <a:t>The numbers on the right are each "all-data accuracy minus that run's accuracy":</a:t>
            </a:r>
          </a:p>
          <a:p>
            <a:r>
              <a:t>- Random 90%: 94.32 minus 93.84, about half a point lost. Almost free.</a:t>
            </a:r>
          </a:p>
          <a:p>
            <a:r>
              <a:t>- Random 30%: 94.32 minus 86.42, almost 8 points lost.</a:t>
            </a:r>
          </a:p>
          <a:p>
            <a:r>
              <a:t>- All data for 18 epochs, the same time as keeping 30%: 94.32 minus 91.29, only 3 points lost.</a:t>
            </a:r>
          </a:p>
          <a:p>
            <a:endParaRPr/>
          </a:p>
          <a:p>
            <a:r>
              <a:t>So with the same small budget, it is much better to see every picture a few times than to see a few pictures many times. The blue line, random, falls away much faster than the orange line, fewer epochs.</a:t>
            </a:r>
          </a:p>
          <a:p>
            <a:endParaRPr/>
          </a:p>
          <a:p>
            <a:r>
              <a:t>This is a fair comparison: both lines use exactly the same amount of training work at each point. It also sets the bar for our pruning method: it should beat random picking, and ideally beat simply training for fewer epochs.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main result. We used the EL2N scores to keep the hardest pictures, and compared with random picking at the same size.</a:t>
            </a:r>
          </a:p>
          <a:p>
            <a:endParaRPr/>
          </a:p>
          <a:p>
            <a:r>
              <a:t>At 90%, keep-hard gets 94.16% against 93.84% for random. At 70%, 94.09% against 92.94%. At 50%, 92.63% against 90.97%. In all three cases keeping the hard pictures wins, by 0.3 to 1.7 points. We checked these differences with a statistics test, Welch's t-test, and they are real, not luck.</a:t>
            </a:r>
          </a:p>
          <a:p>
            <a:endParaRPr/>
          </a:p>
          <a:p>
            <a:r>
              <a:t>The best part: keeping the hardest 70% gives 94.09%, only 0.23 below using all the data. By our definition, that is a good subset in terms of accuracy: 30% less data, almost no loss.</a:t>
            </a:r>
          </a:p>
          <a:p>
            <a:endParaRPr/>
          </a:p>
          <a:p>
            <a:r>
              <a:t>But at 30% it flips. Keep-hard falls to 80.15%, more than 6 points below random. The next slide explains why.</a:t>
            </a:r>
          </a:p>
          <a:p>
            <a:endParaRPr/>
          </a:p>
          <a:p>
            <a:r>
              <a:t>Keeping the easiest pictures, shown in the plot, is the worst at every size. Easy pictures repeat what the model already knows, so they teach it little.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reasons explain why keeping only the hardest 30% fails.</a:t>
            </a:r>
          </a:p>
          <a:p>
            <a:endParaRPr/>
          </a:p>
          <a:p>
            <a:r>
              <a:t>Reason one, on the left: these are real CIFAR-10 pictures ranked by our scores. The easiest are clear and typical. The hardest are messy: blurry animals that could be a cat or a dog, strange angles, tiny objects, and some that look wrongly labelled. If we keep only the hardest 30%, a big part of the training data is like this, and almost no clean, typical examples are left. The model never properly learns what a normal car or cat looks like.</a:t>
            </a:r>
          </a:p>
          <a:p>
            <a:endParaRPr/>
          </a:p>
          <a:p>
            <a:r>
              <a:t>Reason two, the table: the classes become unbalanced. CIFAR-10 has 5,000 pictures per class, so a fair 30% share is 1,500 per class. But keep-hard kept 2,790 cats and 2,441 dogs, because cats and dogs are easily confused with each other. It kept only 841 ships and 666 cars, because those are easy. So the model sees too few cars and ships.</a:t>
            </a:r>
          </a:p>
          <a:p>
            <a:endParaRPr/>
          </a:p>
          <a:p>
            <a:r>
              <a:t>This matches a known paper by Sorscher and colleagues: when you keep very little data, the hardest pictures alone are the wrong choice. Both problems point to fixes we test after the mid-term.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far we looked at accuracy. Now the time, which is the heart of our project. We did not estimate it; we measured it.</a:t>
            </a:r>
          </a:p>
          <a:p>
            <a:endParaRPr/>
          </a:p>
          <a:p>
            <a:r>
              <a:t>How we measured: inside the training code, a stopwatch runs around every epoch. Before reading the clock we wait until the GPU has really finished its work, so the time is accurate. Adding up all the epochs gives the training time of a run. Scoring is timed separately in the same way.</a:t>
            </a:r>
          </a:p>
          <a:p>
            <a:endParaRPr/>
          </a:p>
          <a:p>
            <a:r>
              <a:t>F, one full run on all the data for 60 epochs, is the average of our three full runs: 143 seconds, or 2.38 minutes.</a:t>
            </a:r>
          </a:p>
          <a:p>
            <a:endParaRPr/>
          </a:p>
          <a:p>
            <a:r>
              <a:t>The table shows the three scorers. Each one took about 54 to 55 seconds to train for 20 epochs, plus 0.67 seconds to score all 50,000 pictures. One set of scores needs all three scorers, so we add them up: S is 165.8 seconds.</a:t>
            </a:r>
          </a:p>
          <a:p>
            <a:endParaRPr/>
          </a:p>
          <a:p>
            <a:r>
              <a:t>165.8 divided by 143.0 is 1.16. So making the scores takes 1.16 times as long as training the final model once on all the data, before training on the subset has even started.</a:t>
            </a:r>
          </a:p>
          <a:p>
            <a:endParaRPr/>
          </a:p>
          <a:p>
            <a:r>
              <a:t>Why not exactly 1.0, since 3 times 20 epochs is 60 epochs? The first job on each GPU is slower while the GPU warms up, and each scorer was such a first job. Without that warm-up, S is about the same as F. Either way, scoring alone costs about one full training run.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graph puts time and accuracy together.</a:t>
            </a:r>
          </a:p>
          <a:p>
            <a:endParaRPr/>
          </a:p>
          <a:p>
            <a:r>
              <a:t>How to read it: across is the total time of a run, scoring plus training, as a percentage of one full run. Up is accuracy. The best place is the top-left corner: high accuracy, little time. The dashed line is one full run, 100%.</a:t>
            </a:r>
          </a:p>
          <a:p>
            <a:endParaRPr/>
          </a:p>
          <a:p>
            <a:r>
              <a:t>Left of the line are all data, random picking in blue, and fewer epochs in orange. They need no scores, so their time is only training. Orange is above blue everywhere: for the same time, fewer epochs is more accurate than random picking.</a:t>
            </a:r>
          </a:p>
          <a:p>
            <a:endParaRPr/>
          </a:p>
          <a:p>
            <a:r>
              <a:t>Right of the line are all the keep-hard runs, in green. Before keep-hard trains anything, it has already spent 116% of a full run on scoring. Then it trains on the kept pictures. For example, keep-hard 50%: 2.76 minutes of scoring plus 1.11 minutes of training is 3.87 minutes, and 3.87 divided by 2.38 is 163%. The green points land between 145% and 200%.</a:t>
            </a:r>
          </a:p>
          <a:p>
            <a:endParaRPr/>
          </a:p>
          <a:p>
            <a:r>
              <a:t>So the best green points are as accurate as all data, but take about twice as long.</a:t>
            </a:r>
          </a:p>
          <a:p>
            <a:endParaRPr/>
          </a:p>
          <a:p>
            <a:r>
              <a:t>The box at the bottom: to save time we need f smaller than 1 minus 1.16, which is minus 0.16. You cannot keep a negative share of the data, so with this scorer, pruning can never save time. The accuracy side works; the whole problem is the cost of the scorer. That is exactly what we work on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lessons from the mid-term.</a:t>
            </a:r>
          </a:p>
          <a:p>
            <a:endParaRPr/>
          </a:p>
          <a:p>
            <a:r>
              <a:t>One: keeping the hard pictures beats random picking when we keep 90, 70 or 50% of the data, by 0.3 to 1.7 points, and keeping 70% is only 0.23 below using all the data. So EL2N does find good subsets, as the Data Diet paper said.</a:t>
            </a:r>
          </a:p>
          <a:p>
            <a:endParaRPr/>
          </a:p>
          <a:p>
            <a:r>
              <a:t>Two: it collapses at 30%, 80.2% against 86.4% for random, because the hardest pictures are messy and the classes become unbalanced.</a:t>
            </a:r>
          </a:p>
          <a:p>
            <a:endParaRPr/>
          </a:p>
          <a:p>
            <a:r>
              <a:t>Three: simply training on all the data for fewer epochs is a strong rival. It beats random picking at every budget. Any pruning method should be compared with it, not only with random.</a:t>
            </a:r>
          </a:p>
          <a:p>
            <a:endParaRPr/>
          </a:p>
          <a:p>
            <a:r>
              <a:t>Four: the standard scorer costs too much. Making the scores takes 1.16 full training runs, so with this scorer, pruning never saves time for a single training run.</a:t>
            </a:r>
          </a:p>
          <a:p>
            <a:endParaRPr/>
          </a:p>
          <a:p>
            <a:r>
              <a:t>These lessons lead directly to our plan: make the scorer cheaper, and fix the 30% problem.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mid-term, the first part of our work is the main idea of the project: making the scorer cheap.</a:t>
            </a:r>
          </a:p>
          <a:p>
            <a:endParaRPr/>
          </a:p>
          <a:p>
            <a:r>
              <a:t>Score earlier: instead of taking the EL2N score at epoch 20, take it at epoch 1 or epoch 5. The scorer's time grows with every epoch, so an early score costs far less. If early scores still pick nearly the same hard pictures, we get the same benefit for much less time.</a:t>
            </a:r>
          </a:p>
          <a:p>
            <a:endParaRPr/>
          </a:p>
          <a:p>
            <a:r>
              <a:t>Use a small scorer: instead of ResNet-18, use a tiny network, about 100 times smaller. It does far less work per picture. The open question is whether a weak model still knows which pictures are hard.</a:t>
            </a:r>
          </a:p>
          <a:p>
            <a:endParaRPr/>
          </a:p>
          <a:p>
            <a:r>
              <a:t>For both, we compare with our mid-term reference: do the cheap scores still beat random picking, and does scoring plus training finally take less than one full run? That is the goal: bring the scoring time well below one full training run, so that pruning actually saves time.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part fixes the 30% problem and checks that our findings are solid.</a:t>
            </a:r>
          </a:p>
          <a:p>
            <a:endParaRPr/>
          </a:p>
          <a:p>
            <a:r>
              <a:t>Skip the very hardest: many of the hardest pictures are unclear or wrongly labelled, so we first drop the hardest 5%, then keep the next hardest.</a:t>
            </a:r>
          </a:p>
          <a:p>
            <a:endParaRPr/>
          </a:p>
          <a:p>
            <a:r>
              <a:t>Balance the classes: at 30% we kept 2,790 cats but only 666 cars. Class-balanced pruning keeps the same share from every class.</a:t>
            </a:r>
          </a:p>
          <a:p>
            <a:endParaRPr/>
          </a:p>
          <a:p>
            <a:r>
              <a:t>Forgetting score: a second way to measure "hard", which counts how often the model gets a picture right and then wrong again. If our findings also hold with this score, they do not depend on EL2N alone.</a:t>
            </a:r>
          </a:p>
          <a:p>
            <a:endParaRPr/>
          </a:p>
          <a:p>
            <a:r>
              <a:t>CIFAR-100: the same kind of pictures, but 100 classes with only 500 pictures each. A harder test of whether our findings hold.</a:t>
            </a:r>
          </a:p>
          <a:p>
            <a:endParaRPr/>
          </a:p>
          <a:p>
            <a:r>
              <a:t>And the same rules as the mid-term: same recipe, three repeats, compared with random and with fewer epochs, and the total time always counted.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Finally, the four papers our project builds on. The titles on the slide are links to the papers.</a:t>
            </a:r>
          </a:p>
          <a:p>
            <a:endParaRPr/>
          </a:p>
          <a:p>
            <a:r>
              <a:t>Deep Learning on a Data Diet, by Paul, Ganguli and Dziugaite, NeurIPS 2021: our main paper, and where our team name comes from. It introduced the EL2N score and showed that a score taken early in training can find pictures that are safe to remove.</a:t>
            </a:r>
          </a:p>
          <a:p>
            <a:endParaRPr/>
          </a:p>
          <a:p>
            <a:r>
              <a:t>An Empirical Study of Example Forgetting, by Toneva and colleagues, ICLR 2019: it counts how often a model forgets a picture during training. That is our second way to measure "hard".</a:t>
            </a:r>
          </a:p>
          <a:p>
            <a:endParaRPr/>
          </a:p>
          <a:p>
            <a:r>
              <a:t>Selection via Proxy, by Coleman and colleagues, ICLR 2020: it showed that a small or briefly trained helper model can choose data almost as well as the big model, much faster. That is the idea behind our cheap scorer.</a:t>
            </a:r>
          </a:p>
          <a:p>
            <a:endParaRPr/>
          </a:p>
          <a:p>
            <a:r>
              <a:t>Beyond Neural Scaling Laws, by Sorscher and colleagues, NeurIPS 2022: it showed that if you keep a lot of data you should keep the hard pictures, but if you keep very little, easier pictures work better. That explains our 30% result.</a:t>
            </a:r>
          </a:p>
          <a:p>
            <a:endParaRPr/>
          </a:p>
          <a:p>
            <a:r>
              <a:t>What these papers mostly do not report is how long the scoring takes. That is what our project adds.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in one sentence: keeping the hard pictures works well when we keep 70 to 50% of the data, but the standard scorer takes more time than it saves, so the next step is to make the scorer cheap.</a:t>
            </a:r>
          </a:p>
          <a:p>
            <a:endParaRPr/>
          </a:p>
          <a:p>
            <a:r>
              <a:t>Thank you. We are happy to take questions.</a:t>
            </a:r>
          </a:p>
          <a:p>
            <a:endParaRPr/>
          </a:p>
          <a:p>
            <a:r>
              <a:t>Likely questions and short answers:</a:t>
            </a:r>
          </a:p>
          <a:p>
            <a:endParaRPr/>
          </a:p>
          <a:p>
            <a:r>
              <a:t>Q: If training for fewer epochs wins, why do this project?</a:t>
            </a:r>
          </a:p>
          <a:p>
            <a:r>
              <a:t>A: For one training run with the standard scorer, yes, training shorter wins, and we show that clearly. Pruning can still pay when the scorer is cheap, when the same pruned data is reused for many training runs so the scoring cost is shared, or when less data is useful in itself, for example less storage or finding wrongly labelled pictures. Our numbers give the exact condition for when it pays.</a:t>
            </a:r>
          </a:p>
          <a:p>
            <a:endParaRPr/>
          </a:p>
          <a:p>
            <a:r>
              <a:t>Q: Is it fair to compare 50% of the data with 30 epochs?</a:t>
            </a:r>
          </a:p>
          <a:p>
            <a:r>
              <a:t>A: Yes. Both do exactly the same amount of training work: half the pictures for 60 epochs, or all the pictures for 30 epochs. The measured GPU times are also about the same, 68 and 62 seconds.</a:t>
            </a:r>
          </a:p>
          <a:p>
            <a:endParaRPr/>
          </a:p>
          <a:p>
            <a:r>
              <a:t>Q: How did you measure time?</a:t>
            </a:r>
          </a:p>
          <a:p>
            <a:r>
              <a:t>A: A stopwatch around every epoch in the training code, after waiting for the GPU to finish, on the same kind of GPU for every run. F is the average of our three full runs; S is the sum of the three scorers.</a:t>
            </a:r>
          </a:p>
          <a:p>
            <a:endParaRPr/>
          </a:p>
          <a:p>
            <a:r>
              <a:t>Q: Why CIFAR-10 and ResNet-18, and why 60 epochs?</a:t>
            </a:r>
          </a:p>
          <a:p>
            <a:r>
              <a:t>A: They are the standard setting in pruning papers, and one run takes about 2.4 minutes. 60 epochs already gives 94.3%, and every method gets the same 60 epochs, so it is fair.</a:t>
            </a:r>
          </a:p>
          <a:p>
            <a:endParaRPr/>
          </a:p>
          <a:p>
            <a:r>
              <a:t>Q: Are 3 repeats enough?</a:t>
            </a:r>
          </a:p>
          <a:p>
            <a:r>
              <a:t>A: Enough to see the main effects; the statistics test says our key differences are not luck.</a:t>
            </a:r>
          </a:p>
          <a:p>
            <a:endParaRPr/>
          </a:p>
          <a:p>
            <a:r>
              <a:t>Q: Why does keep-hard fail at 30%?</a:t>
            </a:r>
          </a:p>
          <a:p>
            <a:r>
              <a:t>A: The hardest pictures are often unclear or wrongly labelled, and the classes become very unbalanced.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2107.07075"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arxiv.org/abs/2206.14486" TargetMode="External"/><Relationship Id="rId5" Type="http://schemas.openxmlformats.org/officeDocument/2006/relationships/hyperlink" Target="https://arxiv.org/abs/1906.11829" TargetMode="External"/><Relationship Id="rId4" Type="http://schemas.openxmlformats.org/officeDocument/2006/relationships/hyperlink" Target="https://arxiv.org/abs/1812.05159"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8368" y="1691640"/>
            <a:ext cx="10881360" cy="914400"/>
          </a:xfrm>
          <a:prstGeom prst="rect">
            <a:avLst/>
          </a:prstGeom>
          <a:noFill/>
          <a:ln/>
        </p:spPr>
        <p:txBody>
          <a:bodyPr wrap="square" lIns="0" tIns="0" rIns="0" bIns="0" rtlCol="0" anchor="ctr">
            <a:normAutofit/>
          </a:bodyPr>
          <a:lstStyle/>
          <a:p>
            <a:pPr marL="0" indent="0" algn="ctr">
              <a:lnSpc>
                <a:spcPts val="5280"/>
              </a:lnSpc>
              <a:buNone/>
            </a:pPr>
            <a:r>
              <a:rPr lang="en-US" sz="4400" b="1" i="0" dirty="0">
                <a:solidFill>
                  <a:srgbClr val="1E293B"/>
                </a:solidFill>
                <a:latin typeface="Segoe UI" pitchFamily="18" charset="0"/>
                <a:ea typeface="Georgia" pitchFamily="18" charset="-122"/>
                <a:cs typeface="Georgia" pitchFamily="18" charset="-120"/>
              </a:rPr>
              <a:t>Train on </a:t>
            </a:r>
            <a:r>
              <a:rPr lang="en-US" sz="4400" b="1" i="0" dirty="0" smtClean="0">
                <a:solidFill>
                  <a:srgbClr val="1E293B"/>
                </a:solidFill>
                <a:latin typeface="Segoe UI" pitchFamily="18" charset="0"/>
                <a:ea typeface="Georgia" pitchFamily="18" charset="-122"/>
                <a:cs typeface="Georgia" pitchFamily="18" charset="-120"/>
              </a:rPr>
              <a:t>Less == </a:t>
            </a:r>
            <a:r>
              <a:rPr lang="en-US" sz="4400" b="1" i="0" dirty="0">
                <a:solidFill>
                  <a:srgbClr val="1E293B"/>
                </a:solidFill>
                <a:latin typeface="Segoe UI" pitchFamily="18" charset="0"/>
                <a:ea typeface="Georgia" pitchFamily="18" charset="-122"/>
                <a:cs typeface="Georgia" pitchFamily="18" charset="-120"/>
              </a:rPr>
              <a:t>Pay for </a:t>
            </a:r>
            <a:r>
              <a:rPr lang="en-US" sz="4400" b="1" i="0" dirty="0" smtClean="0">
                <a:solidFill>
                  <a:srgbClr val="1E293B"/>
                </a:solidFill>
                <a:latin typeface="Segoe UI" pitchFamily="18" charset="0"/>
                <a:ea typeface="Georgia" pitchFamily="18" charset="-122"/>
                <a:cs typeface="Georgia" pitchFamily="18" charset="-120"/>
              </a:rPr>
              <a:t>Less ?</a:t>
            </a:r>
            <a:endParaRPr lang="en-US" sz="4800" dirty="0"/>
          </a:p>
        </p:txBody>
      </p:sp>
      <p:sp>
        <p:nvSpPr>
          <p:cNvPr id="3" name="Text 1"/>
          <p:cNvSpPr/>
          <p:nvPr/>
        </p:nvSpPr>
        <p:spPr>
          <a:xfrm>
            <a:off x="658368" y="2697480"/>
            <a:ext cx="10881360" cy="457200"/>
          </a:xfrm>
          <a:prstGeom prst="rect">
            <a:avLst/>
          </a:prstGeom>
          <a:noFill/>
          <a:ln/>
        </p:spPr>
        <p:txBody>
          <a:bodyPr wrap="square" lIns="0" tIns="0" rIns="0" bIns="0" rtlCol="0" anchor="ctr">
            <a:normAutofit/>
          </a:bodyPr>
          <a:lstStyle/>
          <a:p>
            <a:pPr marL="0" indent="0" algn="ctr">
              <a:lnSpc>
                <a:spcPts val="2600"/>
              </a:lnSpc>
              <a:buNone/>
            </a:pPr>
            <a:r>
              <a:rPr lang="en-US" sz="2000" b="0" dirty="0">
                <a:solidFill>
                  <a:srgbClr val="5B6475"/>
                </a:solidFill>
                <a:latin typeface="Segoe UI" pitchFamily="34" charset="0"/>
                <a:ea typeface="Arial" pitchFamily="34" charset="-122"/>
                <a:cs typeface="Arial" pitchFamily="34" charset="-120"/>
              </a:rPr>
              <a:t>Can we train on less data and save time? · Mid-term presentation</a:t>
            </a:r>
            <a:endParaRPr lang="en-US" sz="2000" dirty="0"/>
          </a:p>
        </p:txBody>
      </p:sp>
      <p:sp>
        <p:nvSpPr>
          <p:cNvPr id="5" name="Text 2"/>
          <p:cNvSpPr/>
          <p:nvPr/>
        </p:nvSpPr>
        <p:spPr>
          <a:xfrm>
            <a:off x="658368" y="3611880"/>
            <a:ext cx="10881360" cy="457200"/>
          </a:xfrm>
          <a:prstGeom prst="rect">
            <a:avLst/>
          </a:prstGeom>
          <a:noFill/>
          <a:ln/>
        </p:spPr>
        <p:txBody>
          <a:bodyPr wrap="square" lIns="0" tIns="0" rIns="0" bIns="0" rtlCol="0" anchor="ctr">
            <a:normAutofit/>
          </a:bodyPr>
          <a:lstStyle/>
          <a:p>
            <a:pPr marL="0" indent="0" algn="ctr">
              <a:lnSpc>
                <a:spcPts val="2240"/>
              </a:lnSpc>
              <a:buNone/>
            </a:pPr>
            <a:r>
              <a:rPr lang="en-US" sz="2400" b="1" dirty="0">
                <a:solidFill>
                  <a:srgbClr val="1E293B"/>
                </a:solidFill>
                <a:latin typeface="Segoe UI" pitchFamily="34" charset="0"/>
                <a:ea typeface="Arial" pitchFamily="34" charset="-122"/>
                <a:cs typeface="Arial" pitchFamily="34" charset="-120"/>
              </a:rPr>
              <a:t>Team DataDiet</a:t>
            </a:r>
            <a:endParaRPr lang="en-US" sz="1600" dirty="0"/>
          </a:p>
        </p:txBody>
      </p:sp>
      <p:sp>
        <p:nvSpPr>
          <p:cNvPr id="6" name="Text 3"/>
          <p:cNvSpPr/>
          <p:nvPr/>
        </p:nvSpPr>
        <p:spPr>
          <a:xfrm>
            <a:off x="658368" y="4160520"/>
            <a:ext cx="10881360" cy="365760"/>
          </a:xfrm>
          <a:prstGeom prst="rect">
            <a:avLst/>
          </a:prstGeom>
          <a:noFill/>
          <a:ln/>
        </p:spPr>
        <p:txBody>
          <a:bodyPr wrap="square" lIns="0" tIns="0" rIns="0" bIns="0" rtlCol="0" anchor="ctr">
            <a:normAutofit/>
          </a:bodyPr>
          <a:lstStyle/>
          <a:p>
            <a:pPr marL="0" indent="0" algn="ctr">
              <a:lnSpc>
                <a:spcPts val="1680"/>
              </a:lnSpc>
              <a:buNone/>
            </a:pPr>
            <a:r>
              <a:rPr lang="en-US" sz="1600" b="0" dirty="0">
                <a:solidFill>
                  <a:srgbClr val="1E293B"/>
                </a:solidFill>
                <a:latin typeface="Segoe UI" pitchFamily="34" charset="0"/>
                <a:ea typeface="Arial" pitchFamily="34" charset="-122"/>
                <a:cs typeface="Arial" pitchFamily="34" charset="-120"/>
              </a:rPr>
              <a:t>Rahul Paul (26M2102) · </a:t>
            </a:r>
            <a:r>
              <a:rPr lang="en-US" sz="1600" b="0" dirty="0" err="1">
                <a:solidFill>
                  <a:srgbClr val="1E293B"/>
                </a:solidFill>
                <a:latin typeface="Segoe UI" pitchFamily="34" charset="0"/>
                <a:ea typeface="Arial" pitchFamily="34" charset="-122"/>
                <a:cs typeface="Arial" pitchFamily="34" charset="-120"/>
              </a:rPr>
              <a:t>Ayan</a:t>
            </a:r>
            <a:r>
              <a:rPr lang="en-US" sz="1600" b="0" dirty="0">
                <a:solidFill>
                  <a:srgbClr val="1E293B"/>
                </a:solidFill>
                <a:latin typeface="Segoe UI" pitchFamily="34" charset="0"/>
                <a:ea typeface="Arial" pitchFamily="34" charset="-122"/>
                <a:cs typeface="Arial" pitchFamily="34" charset="-120"/>
              </a:rPr>
              <a:t> </a:t>
            </a:r>
            <a:r>
              <a:rPr lang="en-US" sz="1600" b="0" dirty="0" smtClean="0">
                <a:solidFill>
                  <a:srgbClr val="1E293B"/>
                </a:solidFill>
                <a:latin typeface="Segoe UI" pitchFamily="34" charset="0"/>
                <a:ea typeface="Arial" pitchFamily="34" charset="-122"/>
                <a:cs typeface="Arial" pitchFamily="34" charset="-120"/>
              </a:rPr>
              <a:t>Barman (26M0761) </a:t>
            </a:r>
            <a:r>
              <a:rPr lang="en-US" sz="1600" b="0" dirty="0">
                <a:solidFill>
                  <a:srgbClr val="1E293B"/>
                </a:solidFill>
                <a:latin typeface="Segoe UI" pitchFamily="34" charset="0"/>
                <a:ea typeface="Arial" pitchFamily="34" charset="-122"/>
                <a:cs typeface="Arial" pitchFamily="34" charset="-120"/>
              </a:rPr>
              <a:t>· </a:t>
            </a:r>
            <a:r>
              <a:rPr lang="en-US" sz="1600" b="0" dirty="0" err="1">
                <a:solidFill>
                  <a:srgbClr val="1E293B"/>
                </a:solidFill>
                <a:latin typeface="Segoe UI" pitchFamily="34" charset="0"/>
                <a:ea typeface="Arial" pitchFamily="34" charset="-122"/>
                <a:cs typeface="Arial" pitchFamily="34" charset="-120"/>
              </a:rPr>
              <a:t>Banibrata</a:t>
            </a:r>
            <a:r>
              <a:rPr lang="en-US" sz="1600" b="0" dirty="0">
                <a:solidFill>
                  <a:srgbClr val="1E293B"/>
                </a:solidFill>
                <a:latin typeface="Segoe UI" pitchFamily="34" charset="0"/>
                <a:ea typeface="Arial" pitchFamily="34" charset="-122"/>
                <a:cs typeface="Arial" pitchFamily="34" charset="-120"/>
              </a:rPr>
              <a:t> </a:t>
            </a:r>
            <a:r>
              <a:rPr lang="en-US" sz="1600" b="0" dirty="0" smtClean="0">
                <a:solidFill>
                  <a:srgbClr val="1E293B"/>
                </a:solidFill>
                <a:latin typeface="Segoe UI" pitchFamily="34" charset="0"/>
                <a:ea typeface="Arial" pitchFamily="34" charset="-122"/>
                <a:cs typeface="Arial" pitchFamily="34" charset="-120"/>
              </a:rPr>
              <a:t>Manna (26M2114) </a:t>
            </a:r>
            <a:r>
              <a:rPr lang="en-US" sz="1600" b="0" dirty="0">
                <a:solidFill>
                  <a:srgbClr val="1E293B"/>
                </a:solidFill>
                <a:latin typeface="Segoe UI" pitchFamily="34" charset="0"/>
                <a:ea typeface="Arial" pitchFamily="34" charset="-122"/>
                <a:cs typeface="Arial" pitchFamily="34" charset="-120"/>
              </a:rPr>
              <a:t>· </a:t>
            </a:r>
            <a:r>
              <a:rPr lang="en-US" sz="1600" b="0" dirty="0" err="1">
                <a:solidFill>
                  <a:srgbClr val="1E293B"/>
                </a:solidFill>
                <a:latin typeface="Segoe UI" pitchFamily="34" charset="0"/>
                <a:ea typeface="Arial" pitchFamily="34" charset="-122"/>
                <a:cs typeface="Arial" pitchFamily="34" charset="-120"/>
              </a:rPr>
              <a:t>Tejas</a:t>
            </a:r>
            <a:r>
              <a:rPr lang="en-US" sz="1600" b="0" dirty="0">
                <a:solidFill>
                  <a:srgbClr val="1E293B"/>
                </a:solidFill>
                <a:latin typeface="Segoe UI" pitchFamily="34" charset="0"/>
                <a:ea typeface="Arial" pitchFamily="34" charset="-122"/>
                <a:cs typeface="Arial" pitchFamily="34" charset="-120"/>
              </a:rPr>
              <a:t> </a:t>
            </a:r>
            <a:r>
              <a:rPr lang="en-US" sz="1600" b="0" dirty="0" err="1" smtClean="0">
                <a:solidFill>
                  <a:srgbClr val="1E293B"/>
                </a:solidFill>
                <a:latin typeface="Segoe UI" pitchFamily="34" charset="0"/>
                <a:ea typeface="Arial" pitchFamily="34" charset="-122"/>
                <a:cs typeface="Arial" pitchFamily="34" charset="-120"/>
              </a:rPr>
              <a:t>Itankar</a:t>
            </a:r>
            <a:r>
              <a:rPr lang="en-US" sz="1600" b="0" dirty="0" smtClean="0">
                <a:solidFill>
                  <a:srgbClr val="1E293B"/>
                </a:solidFill>
                <a:latin typeface="Segoe UI" pitchFamily="34" charset="0"/>
                <a:ea typeface="Arial" pitchFamily="34" charset="-122"/>
                <a:cs typeface="Arial" pitchFamily="34" charset="-120"/>
              </a:rPr>
              <a:t> (26M0778)</a:t>
            </a:r>
            <a:endParaRPr lang="en-US" sz="1200" dirty="0"/>
          </a:p>
        </p:txBody>
      </p:sp>
      <p:sp>
        <p:nvSpPr>
          <p:cNvPr id="7" name="Text 4"/>
          <p:cNvSpPr/>
          <p:nvPr/>
        </p:nvSpPr>
        <p:spPr>
          <a:xfrm>
            <a:off x="658368" y="4480560"/>
            <a:ext cx="10881360" cy="365760"/>
          </a:xfrm>
          <a:prstGeom prst="rect">
            <a:avLst/>
          </a:prstGeom>
          <a:noFill/>
          <a:ln/>
        </p:spPr>
        <p:txBody>
          <a:bodyPr wrap="square" lIns="0" tIns="0" rIns="0" bIns="0" rtlCol="0" anchor="ctr">
            <a:normAutofit/>
          </a:bodyPr>
          <a:lstStyle/>
          <a:p>
            <a:pPr marL="0" indent="0" algn="ctr">
              <a:lnSpc>
                <a:spcPts val="1680"/>
              </a:lnSpc>
              <a:buNone/>
            </a:pPr>
            <a:r>
              <a:rPr lang="en-US" sz="1600" b="0" dirty="0">
                <a:solidFill>
                  <a:srgbClr val="1E293B"/>
                </a:solidFill>
                <a:latin typeface="Segoe UI" pitchFamily="34" charset="0"/>
                <a:ea typeface="Arial" pitchFamily="34" charset="-122"/>
                <a:cs typeface="Arial" pitchFamily="34" charset="-120"/>
              </a:rPr>
              <a:t>CS 725: Foundations of Machine Learning · Prof. Sunita Sarawagi · IIT Bombay</a:t>
            </a:r>
            <a:endParaRPr lang="en-US" sz="1200" dirty="0"/>
          </a:p>
        </p:txBody>
      </p:sp>
      <p:sp>
        <p:nvSpPr>
          <p:cNvPr id="8" name="Rectangle 7"/>
          <p:cNvSpPr/>
          <p:nvPr/>
        </p:nvSpPr>
        <p:spPr>
          <a:xfrm>
            <a:off x="5455767" y="3310128"/>
            <a:ext cx="128016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MOTIVATION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Training a network is expensive</a:t>
            </a:r>
            <a:endParaRPr lang="en-US" sz="3200" dirty="0"/>
          </a:p>
        </p:txBody>
      </p:sp>
      <p:sp>
        <p:nvSpPr>
          <p:cNvPr id="4" name="Shape 2"/>
          <p:cNvSpPr/>
          <p:nvPr/>
        </p:nvSpPr>
        <p:spPr>
          <a:xfrm>
            <a:off x="812800" y="1866835"/>
            <a:ext cx="3386667" cy="0"/>
          </a:xfrm>
          <a:prstGeom prst="line">
            <a:avLst/>
          </a:prstGeom>
          <a:noFill/>
          <a:ln w="25400">
            <a:solidFill>
              <a:srgbClr val="14213D"/>
            </a:solidFill>
            <a:prstDash val="solid"/>
          </a:ln>
        </p:spPr>
        <p:txBody>
          <a:bodyPr/>
          <a:lstStyle/>
          <a:p>
            <a:endParaRPr/>
          </a:p>
        </p:txBody>
      </p:sp>
      <p:sp>
        <p:nvSpPr>
          <p:cNvPr id="5" name="Text 3"/>
          <p:cNvSpPr/>
          <p:nvPr/>
        </p:nvSpPr>
        <p:spPr>
          <a:xfrm>
            <a:off x="812800" y="2031935"/>
            <a:ext cx="3488267"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Georgia" pitchFamily="18" charset="0"/>
                <a:ea typeface="Georgia" pitchFamily="18" charset="-122"/>
                <a:cs typeface="Georgia" pitchFamily="18" charset="-120"/>
              </a:rPr>
              <a:t>3,000,000</a:t>
            </a:r>
            <a:endParaRPr lang="en-US" sz="4800" dirty="0"/>
          </a:p>
        </p:txBody>
      </p:sp>
      <p:sp>
        <p:nvSpPr>
          <p:cNvPr id="6" name="Text 4"/>
          <p:cNvSpPr/>
          <p:nvPr/>
        </p:nvSpPr>
        <p:spPr>
          <a:xfrm>
            <a:off x="812800" y="2717735"/>
            <a:ext cx="3488267"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image views in ONE small training run: 50,000 images × 60 epochs</a:t>
            </a:r>
            <a:endParaRPr lang="en-US" sz="1200" dirty="0"/>
          </a:p>
        </p:txBody>
      </p:sp>
      <p:sp>
        <p:nvSpPr>
          <p:cNvPr id="7" name="Shape 5"/>
          <p:cNvSpPr/>
          <p:nvPr/>
        </p:nvSpPr>
        <p:spPr>
          <a:xfrm>
            <a:off x="4402667" y="1866835"/>
            <a:ext cx="3386667" cy="0"/>
          </a:xfrm>
          <a:prstGeom prst="line">
            <a:avLst/>
          </a:prstGeom>
          <a:noFill/>
          <a:ln w="25400">
            <a:solidFill>
              <a:srgbClr val="14213D"/>
            </a:solidFill>
            <a:prstDash val="solid"/>
          </a:ln>
        </p:spPr>
        <p:txBody>
          <a:bodyPr/>
          <a:lstStyle/>
          <a:p>
            <a:endParaRPr/>
          </a:p>
        </p:txBody>
      </p:sp>
      <p:sp>
        <p:nvSpPr>
          <p:cNvPr id="8" name="Text 6"/>
          <p:cNvSpPr/>
          <p:nvPr/>
        </p:nvSpPr>
        <p:spPr>
          <a:xfrm>
            <a:off x="4402667" y="2031935"/>
            <a:ext cx="3488267"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Georgia" pitchFamily="18" charset="0"/>
                <a:ea typeface="Georgia" pitchFamily="18" charset="-122"/>
                <a:cs typeface="Georgia" pitchFamily="18" charset="-120"/>
              </a:rPr>
              <a:t>× many</a:t>
            </a:r>
            <a:endParaRPr lang="en-US" sz="4800" dirty="0"/>
          </a:p>
        </p:txBody>
      </p:sp>
      <p:sp>
        <p:nvSpPr>
          <p:cNvPr id="9" name="Text 7"/>
          <p:cNvSpPr/>
          <p:nvPr/>
        </p:nvSpPr>
        <p:spPr>
          <a:xfrm>
            <a:off x="4402667" y="2717735"/>
            <a:ext cx="3488267"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runs: every new setting or retry pays the full cost again</a:t>
            </a:r>
            <a:endParaRPr lang="en-US" sz="1200" dirty="0"/>
          </a:p>
        </p:txBody>
      </p:sp>
      <p:sp>
        <p:nvSpPr>
          <p:cNvPr id="10" name="Shape 8"/>
          <p:cNvSpPr/>
          <p:nvPr/>
        </p:nvSpPr>
        <p:spPr>
          <a:xfrm>
            <a:off x="7992534" y="1866835"/>
            <a:ext cx="3386667" cy="0"/>
          </a:xfrm>
          <a:prstGeom prst="line">
            <a:avLst/>
          </a:prstGeom>
          <a:noFill/>
          <a:ln w="25400">
            <a:solidFill>
              <a:srgbClr val="14213D"/>
            </a:solidFill>
            <a:prstDash val="solid"/>
          </a:ln>
        </p:spPr>
        <p:txBody>
          <a:bodyPr/>
          <a:lstStyle/>
          <a:p>
            <a:endParaRPr/>
          </a:p>
        </p:txBody>
      </p:sp>
      <p:sp>
        <p:nvSpPr>
          <p:cNvPr id="11" name="Text 9"/>
          <p:cNvSpPr/>
          <p:nvPr/>
        </p:nvSpPr>
        <p:spPr>
          <a:xfrm>
            <a:off x="7992534" y="2031935"/>
            <a:ext cx="3488267"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4213D"/>
                </a:solidFill>
                <a:latin typeface="Georgia" pitchFamily="18" charset="0"/>
                <a:ea typeface="Georgia" pitchFamily="18" charset="-122"/>
                <a:cs typeface="Georgia" pitchFamily="18" charset="-120"/>
              </a:rPr>
              <a:t>= cost</a:t>
            </a:r>
            <a:endParaRPr lang="en-US" sz="4800" dirty="0"/>
          </a:p>
        </p:txBody>
      </p:sp>
      <p:sp>
        <p:nvSpPr>
          <p:cNvPr id="12" name="Text 10"/>
          <p:cNvSpPr/>
          <p:nvPr/>
        </p:nvSpPr>
        <p:spPr>
          <a:xfrm>
            <a:off x="7992534" y="2717735"/>
            <a:ext cx="3488267"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GPU time, money and energy, growing as datasets get bigger</a:t>
            </a:r>
            <a:endParaRPr lang="en-US" sz="1200" dirty="0"/>
          </a:p>
        </p:txBody>
      </p:sp>
      <p:sp>
        <p:nvSpPr>
          <p:cNvPr id="13" name="Text 11"/>
          <p:cNvSpPr/>
          <p:nvPr/>
        </p:nvSpPr>
        <p:spPr>
          <a:xfrm>
            <a:off x="812800" y="3464389"/>
            <a:ext cx="981075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Normal training shows the model </a:t>
            </a:r>
            <a:r>
              <a:rPr lang="en-US" sz="1600" b="1" dirty="0">
                <a:solidFill>
                  <a:srgbClr val="14213D"/>
                </a:solidFill>
                <a:latin typeface="Arial" pitchFamily="34" charset="0"/>
                <a:ea typeface="Arial" pitchFamily="34" charset="-122"/>
                <a:cs typeface="Arial" pitchFamily="34" charset="-120"/>
              </a:rPr>
              <a:t>every</a:t>
            </a:r>
            <a:r>
              <a:rPr lang="en-US" sz="1600" dirty="0">
                <a:solidFill>
                  <a:srgbClr val="14213D"/>
                </a:solidFill>
                <a:latin typeface="Arial" pitchFamily="34" charset="0"/>
                <a:ea typeface="Arial" pitchFamily="34" charset="-122"/>
                <a:cs typeface="Arial" pitchFamily="34" charset="-120"/>
              </a:rPr>
              <a:t> picture, again and again. More data means more time.</a:t>
            </a:r>
            <a:endParaRPr lang="en-US" sz="1600" dirty="0"/>
          </a:p>
        </p:txBody>
      </p:sp>
      <p:sp>
        <p:nvSpPr>
          <p:cNvPr id="14" name="Text 12"/>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5" name="Text 13"/>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2</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MOTIVATION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Not every training example is equally useful</a:t>
            </a:r>
            <a:endParaRPr lang="en-US" sz="3200" dirty="0"/>
          </a:p>
        </p:txBody>
      </p:sp>
      <p:sp>
        <p:nvSpPr>
          <p:cNvPr id="4" name="Text 2"/>
          <p:cNvSpPr/>
          <p:nvPr/>
        </p:nvSpPr>
        <p:spPr>
          <a:xfrm>
            <a:off x="812800" y="1854135"/>
            <a:ext cx="10137775" cy="594254"/>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5" name="Shape 3"/>
          <p:cNvSpPr/>
          <p:nvPr/>
        </p:nvSpPr>
        <p:spPr>
          <a:xfrm>
            <a:off x="812800" y="2727789"/>
            <a:ext cx="3383823" cy="1503495"/>
          </a:xfrm>
          <a:prstGeom prst="roundRect">
            <a:avLst>
              <a:gd name="adj" fmla="val 6758"/>
            </a:avLst>
          </a:prstGeom>
          <a:solidFill>
            <a:srgbClr val="E6EFFA"/>
          </a:solidFill>
          <a:ln/>
        </p:spPr>
        <p:txBody>
          <a:bodyPr/>
          <a:lstStyle/>
          <a:p>
            <a:endParaRPr/>
          </a:p>
        </p:txBody>
      </p:sp>
      <p:sp>
        <p:nvSpPr>
          <p:cNvPr id="6" name="Text 4"/>
          <p:cNvSpPr/>
          <p:nvPr/>
        </p:nvSpPr>
        <p:spPr>
          <a:xfrm>
            <a:off x="1066800" y="2981789"/>
            <a:ext cx="296209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5FAE"/>
                </a:solidFill>
                <a:latin typeface="Arial" pitchFamily="34" charset="0"/>
                <a:ea typeface="Arial" pitchFamily="34" charset="-122"/>
                <a:cs typeface="Arial" pitchFamily="34" charset="-120"/>
              </a:rPr>
              <a:t>Redundant</a:t>
            </a:r>
            <a:endParaRPr lang="en-US" sz="1600" dirty="0"/>
          </a:p>
        </p:txBody>
      </p:sp>
      <p:sp>
        <p:nvSpPr>
          <p:cNvPr id="7" name="Text 5"/>
          <p:cNvSpPr/>
          <p:nvPr/>
        </p:nvSpPr>
        <p:spPr>
          <a:xfrm>
            <a:off x="1066800" y="3314502"/>
            <a:ext cx="2962097"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Clear, typical pictures. Many look alike. The model learns them fast; after that they teach little.</a:t>
            </a:r>
            <a:endParaRPr lang="en-US" sz="1200" dirty="0"/>
          </a:p>
        </p:txBody>
      </p:sp>
      <p:sp>
        <p:nvSpPr>
          <p:cNvPr id="8" name="Shape 6"/>
          <p:cNvSpPr/>
          <p:nvPr/>
        </p:nvSpPr>
        <p:spPr>
          <a:xfrm>
            <a:off x="4402998" y="2730964"/>
            <a:ext cx="3386005" cy="1497145"/>
          </a:xfrm>
          <a:prstGeom prst="roundRect">
            <a:avLst>
              <a:gd name="adj" fmla="val 6574"/>
            </a:avLst>
          </a:prstGeom>
          <a:solidFill>
            <a:srgbClr val="FFFFFF"/>
          </a:solidFill>
          <a:ln w="6350">
            <a:solidFill>
              <a:srgbClr val="DDE3EC"/>
            </a:solidFill>
            <a:prstDash val="solid"/>
          </a:ln>
        </p:spPr>
        <p:txBody>
          <a:bodyPr/>
          <a:lstStyle/>
          <a:p>
            <a:endParaRPr/>
          </a:p>
        </p:txBody>
      </p:sp>
      <p:sp>
        <p:nvSpPr>
          <p:cNvPr id="9" name="Text 7"/>
          <p:cNvSpPr/>
          <p:nvPr/>
        </p:nvSpPr>
        <p:spPr>
          <a:xfrm>
            <a:off x="4658056" y="2986022"/>
            <a:ext cx="296216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Informative</a:t>
            </a:r>
            <a:endParaRPr lang="en-US" sz="1600" dirty="0"/>
          </a:p>
        </p:txBody>
      </p:sp>
      <p:sp>
        <p:nvSpPr>
          <p:cNvPr id="10" name="Text 8"/>
          <p:cNvSpPr/>
          <p:nvPr/>
        </p:nvSpPr>
        <p:spPr>
          <a:xfrm>
            <a:off x="4658056" y="3318735"/>
            <a:ext cx="2962165"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Unusual or tricky pictures. The model can still learn from them.</a:t>
            </a:r>
            <a:endParaRPr lang="en-US" sz="1200" dirty="0"/>
          </a:p>
        </p:txBody>
      </p:sp>
      <p:sp>
        <p:nvSpPr>
          <p:cNvPr id="11" name="Shape 9"/>
          <p:cNvSpPr/>
          <p:nvPr/>
        </p:nvSpPr>
        <p:spPr>
          <a:xfrm>
            <a:off x="7995378" y="2727789"/>
            <a:ext cx="3383823" cy="1503495"/>
          </a:xfrm>
          <a:prstGeom prst="roundRect">
            <a:avLst>
              <a:gd name="adj" fmla="val 6758"/>
            </a:avLst>
          </a:prstGeom>
          <a:solidFill>
            <a:srgbClr val="FBE7DD"/>
          </a:solidFill>
          <a:ln/>
        </p:spPr>
        <p:txBody>
          <a:bodyPr/>
          <a:lstStyle/>
          <a:p>
            <a:endParaRPr/>
          </a:p>
        </p:txBody>
      </p:sp>
      <p:sp>
        <p:nvSpPr>
          <p:cNvPr id="12" name="Text 10"/>
          <p:cNvSpPr/>
          <p:nvPr/>
        </p:nvSpPr>
        <p:spPr>
          <a:xfrm>
            <a:off x="8249378" y="2981789"/>
            <a:ext cx="296209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61A"/>
                </a:solidFill>
                <a:latin typeface="Arial" pitchFamily="34" charset="0"/>
                <a:ea typeface="Arial" pitchFamily="34" charset="-122"/>
                <a:cs typeface="Arial" pitchFamily="34" charset="-120"/>
              </a:rPr>
              <a:t>Harmful</a:t>
            </a:r>
            <a:endParaRPr lang="en-US" sz="1600" dirty="0"/>
          </a:p>
        </p:txBody>
      </p:sp>
      <p:sp>
        <p:nvSpPr>
          <p:cNvPr id="13" name="Text 11"/>
          <p:cNvSpPr/>
          <p:nvPr/>
        </p:nvSpPr>
        <p:spPr>
          <a:xfrm>
            <a:off x="8249378" y="3314502"/>
            <a:ext cx="2962097"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Unclear pictures, or pictures with the wrong label. They confuse the model.</a:t>
            </a:r>
            <a:endParaRPr lang="en-US" sz="1200" dirty="0"/>
          </a:p>
        </p:txBody>
      </p:sp>
      <p:sp>
        <p:nvSpPr>
          <p:cNvPr id="14" name="Text 12"/>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5" name="Text 13"/>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DEFINITIONS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What “easy” and “hard” mean</a:t>
            </a:r>
            <a:endParaRPr lang="en-US" sz="3200" dirty="0"/>
          </a:p>
        </p:txBody>
      </p:sp>
      <p:sp>
        <p:nvSpPr>
          <p:cNvPr id="4" name="Shape 2"/>
          <p:cNvSpPr/>
          <p:nvPr/>
        </p:nvSpPr>
        <p:spPr>
          <a:xfrm>
            <a:off x="812800" y="1777938"/>
            <a:ext cx="5181600" cy="1076854"/>
          </a:xfrm>
          <a:prstGeom prst="roundRect">
            <a:avLst>
              <a:gd name="adj" fmla="val 9435"/>
            </a:avLst>
          </a:prstGeom>
          <a:solidFill>
            <a:srgbClr val="E6EFFA"/>
          </a:solidFill>
          <a:ln/>
        </p:spPr>
        <p:txBody>
          <a:bodyPr/>
          <a:lstStyle/>
          <a:p>
            <a:endParaRPr/>
          </a:p>
        </p:txBody>
      </p:sp>
      <p:sp>
        <p:nvSpPr>
          <p:cNvPr id="5" name="Text 3"/>
          <p:cNvSpPr/>
          <p:nvPr/>
        </p:nvSpPr>
        <p:spPr>
          <a:xfrm>
            <a:off x="1016000" y="1955738"/>
            <a:ext cx="491845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5FAE"/>
                </a:solidFill>
                <a:latin typeface="Arial" pitchFamily="34" charset="0"/>
                <a:ea typeface="Arial" pitchFamily="34" charset="-122"/>
                <a:cs typeface="Arial" pitchFamily="34" charset="-120"/>
              </a:rPr>
              <a:t>Easy example</a:t>
            </a:r>
            <a:endParaRPr lang="en-US" sz="1600" dirty="0"/>
          </a:p>
        </p:txBody>
      </p:sp>
      <p:sp>
        <p:nvSpPr>
          <p:cNvPr id="6" name="Text 4"/>
          <p:cNvSpPr/>
          <p:nvPr/>
        </p:nvSpPr>
        <p:spPr>
          <a:xfrm>
            <a:off x="1016000" y="2250349"/>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The model learns it quickly and soon gets it right with confidence. Low score.</a:t>
            </a:r>
            <a:endParaRPr lang="en-US" sz="1200" dirty="0"/>
          </a:p>
        </p:txBody>
      </p:sp>
      <p:sp>
        <p:nvSpPr>
          <p:cNvPr id="7" name="Shape 5"/>
          <p:cNvSpPr/>
          <p:nvPr/>
        </p:nvSpPr>
        <p:spPr>
          <a:xfrm>
            <a:off x="6197600" y="1777938"/>
            <a:ext cx="5181600" cy="1076854"/>
          </a:xfrm>
          <a:prstGeom prst="roundRect">
            <a:avLst>
              <a:gd name="adj" fmla="val 9435"/>
            </a:avLst>
          </a:prstGeom>
          <a:solidFill>
            <a:srgbClr val="FBE7DD"/>
          </a:solidFill>
          <a:ln/>
        </p:spPr>
        <p:txBody>
          <a:bodyPr/>
          <a:lstStyle/>
          <a:p>
            <a:endParaRPr/>
          </a:p>
        </p:txBody>
      </p:sp>
      <p:sp>
        <p:nvSpPr>
          <p:cNvPr id="8" name="Text 6"/>
          <p:cNvSpPr/>
          <p:nvPr/>
        </p:nvSpPr>
        <p:spPr>
          <a:xfrm>
            <a:off x="6400800" y="1955738"/>
            <a:ext cx="491845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61A"/>
                </a:solidFill>
                <a:latin typeface="Arial" pitchFamily="34" charset="0"/>
                <a:ea typeface="Arial" pitchFamily="34" charset="-122"/>
                <a:cs typeface="Arial" pitchFamily="34" charset="-120"/>
              </a:rPr>
              <a:t>Hard example</a:t>
            </a:r>
            <a:endParaRPr lang="en-US" sz="1600" dirty="0"/>
          </a:p>
        </p:txBody>
      </p:sp>
      <p:sp>
        <p:nvSpPr>
          <p:cNvPr id="9" name="Text 7"/>
          <p:cNvSpPr/>
          <p:nvPr/>
        </p:nvSpPr>
        <p:spPr>
          <a:xfrm>
            <a:off x="6400800" y="2250349"/>
            <a:ext cx="49184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The model is still wrong or unsure after a while. Often odd, unclear or wrongly labelled. High score.</a:t>
            </a:r>
            <a:endParaRPr lang="en-US" sz="1200" dirty="0"/>
          </a:p>
        </p:txBody>
      </p:sp>
      <p:sp>
        <p:nvSpPr>
          <p:cNvPr id="10" name="Shape 8"/>
          <p:cNvSpPr/>
          <p:nvPr/>
        </p:nvSpPr>
        <p:spPr>
          <a:xfrm>
            <a:off x="815975" y="3730752"/>
            <a:ext cx="10560050" cy="2240280"/>
          </a:xfrm>
          <a:prstGeom prst="roundRect">
            <a:avLst>
              <a:gd name="adj" fmla="val 3670"/>
            </a:avLst>
          </a:prstGeom>
          <a:solidFill>
            <a:srgbClr val="FFFFFF"/>
          </a:solidFill>
          <a:ln w="6350">
            <a:solidFill>
              <a:srgbClr val="DDE3EC"/>
            </a:solidFill>
            <a:prstDash val="solid"/>
          </a:ln>
        </p:spPr>
        <p:txBody>
          <a:bodyPr/>
          <a:lstStyle/>
          <a:p>
            <a:endParaRPr/>
          </a:p>
        </p:txBody>
      </p:sp>
      <p:pic>
        <p:nvPicPr>
          <p:cNvPr id="11" name="Image 0" descr="Real CIFAR-10 training images with low and high EL2N scores"/>
          <p:cNvPicPr>
            <a:picLocks noChangeAspect="1"/>
          </p:cNvPicPr>
          <p:nvPr/>
        </p:nvPicPr>
        <p:blipFill>
          <a:blip r:embed="rId3"/>
          <a:srcRect l="-83" r="-83"/>
          <a:stretch/>
        </p:blipFill>
        <p:spPr>
          <a:xfrm>
            <a:off x="2995246" y="3794760"/>
            <a:ext cx="6201507" cy="2103120"/>
          </a:xfrm>
          <a:prstGeom prst="rect">
            <a:avLst/>
          </a:prstGeom>
        </p:spPr>
      </p:pic>
      <p:sp>
        <p:nvSpPr>
          <p:cNvPr id="12" name="Text 9"/>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3" name="Text 10"/>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4</a:t>
            </a:r>
            <a:endParaRPr lang="en-US" sz="1200" dirty="0"/>
          </a:p>
        </p:txBody>
      </p:sp>
      <p:sp>
        <p:nvSpPr>
          <p:cNvPr id="14" name="Text 2"/>
          <p:cNvSpPr/>
          <p:nvPr/>
        </p:nvSpPr>
        <p:spPr>
          <a:xfrm>
            <a:off x="813816" y="3017520"/>
            <a:ext cx="10570464" cy="566928"/>
          </a:xfrm>
          <a:prstGeom prst="roundRect">
            <a:avLst>
              <a:gd name="adj" fmla="val 13700"/>
            </a:avLst>
          </a:prstGeom>
          <a:solidFill>
            <a:srgbClr val="14213D"/>
          </a:solidFill>
          <a:ln/>
        </p:spPr>
        <p:txBody>
          <a:bodyPr wrap="square" lIns="224242" tIns="0" rIns="224242" bIns="0" rtlCol="0" anchor="ctr">
            <a:normAutofit/>
          </a:bodyPr>
          <a:lstStyle/>
          <a:p>
            <a:pPr marL="0" indent="0" algn="ctr">
              <a:lnSpc>
                <a:spcPts val="2640"/>
              </a:lnSpc>
              <a:spcBef>
                <a:spcPts val="0"/>
              </a:spcBef>
              <a:spcAft>
                <a:spcPts val="0"/>
              </a:spcAft>
              <a:buNone/>
            </a:pPr>
            <a:r>
              <a:rPr lang="en-US" sz="2200" dirty="0">
                <a:solidFill>
                  <a:srgbClr val="FBFBF8"/>
                </a:solidFill>
                <a:latin typeface="Georgia" pitchFamily="18" charset="0"/>
                <a:ea typeface="Georgia" pitchFamily="18" charset="-122"/>
                <a:cs typeface="Georgia" pitchFamily="18" charset="-120"/>
              </a:rPr>
              <a:t>EL2N = ‖ softmax(model output) − one-hot(true label) ‖</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MOTIVATION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Data pruning: score, keep, train</a:t>
            </a:r>
            <a:endParaRPr lang="en-US" sz="3200" dirty="0"/>
          </a:p>
        </p:txBody>
      </p:sp>
      <p:sp>
        <p:nvSpPr>
          <p:cNvPr id="4" name="Shape 2"/>
          <p:cNvSpPr/>
          <p:nvPr/>
        </p:nvSpPr>
        <p:spPr>
          <a:xfrm>
            <a:off x="815975" y="1806510"/>
            <a:ext cx="10560050" cy="3119967"/>
          </a:xfrm>
          <a:prstGeom prst="roundRect">
            <a:avLst>
              <a:gd name="adj" fmla="val 3155"/>
            </a:avLst>
          </a:prstGeom>
          <a:solidFill>
            <a:srgbClr val="FFFFFF"/>
          </a:solidFill>
          <a:ln w="6350">
            <a:solidFill>
              <a:srgbClr val="DDE3EC"/>
            </a:solidFill>
            <a:prstDash val="solid"/>
          </a:ln>
        </p:spPr>
        <p:txBody>
          <a:bodyPr/>
          <a:lstStyle/>
          <a:p>
            <a:endParaRPr/>
          </a:p>
        </p:txBody>
      </p:sp>
      <p:pic>
        <p:nvPicPr>
          <p:cNvPr id="5" name="Image 0" descr="Data pruning: score all images, keep a fraction, train on the subset"/>
          <p:cNvPicPr>
            <a:picLocks noChangeAspect="1"/>
          </p:cNvPicPr>
          <p:nvPr/>
        </p:nvPicPr>
        <p:blipFill>
          <a:blip r:embed="rId3"/>
          <a:srcRect l="-47" r="-47"/>
          <a:stretch/>
        </p:blipFill>
        <p:spPr>
          <a:xfrm>
            <a:off x="1651000" y="1959967"/>
            <a:ext cx="8890000" cy="2813050"/>
          </a:xfrm>
          <a:prstGeom prst="rect">
            <a:avLst/>
          </a:prstGeom>
        </p:spPr>
      </p:pic>
      <p:sp>
        <p:nvSpPr>
          <p:cNvPr id="6" name="Text 3"/>
          <p:cNvSpPr/>
          <p:nvPr/>
        </p:nvSpPr>
        <p:spPr>
          <a:xfrm>
            <a:off x="812800" y="5183653"/>
            <a:ext cx="10883392"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61A"/>
                </a:solidFill>
                <a:latin typeface="Arial" pitchFamily="34" charset="0"/>
                <a:ea typeface="Arial" pitchFamily="34" charset="-122"/>
                <a:cs typeface="Arial" pitchFamily="34" charset="-120"/>
              </a:rPr>
              <a:t>Our question:</a:t>
            </a:r>
            <a:r>
              <a:rPr lang="en-US" sz="1600" dirty="0">
                <a:solidFill>
                  <a:srgbClr val="14213D"/>
                </a:solidFill>
                <a:latin typeface="Arial" pitchFamily="34" charset="0"/>
                <a:ea typeface="Arial" pitchFamily="34" charset="-122"/>
                <a:cs typeface="Arial" pitchFamily="34" charset="-120"/>
              </a:rPr>
              <a:t> making the scores also takes GPU time. Is the total (</a:t>
            </a:r>
            <a:r>
              <a:rPr lang="en-US" sz="1600" i="1" dirty="0">
                <a:solidFill>
                  <a:srgbClr val="14213D"/>
                </a:solidFill>
                <a:latin typeface="Arial" pitchFamily="34" charset="0"/>
                <a:ea typeface="Arial" pitchFamily="34" charset="-122"/>
                <a:cs typeface="Arial" pitchFamily="34" charset="-120"/>
              </a:rPr>
              <a:t>scoring + training</a:t>
            </a:r>
            <a:r>
              <a:rPr lang="en-US" sz="1600" dirty="0">
                <a:solidFill>
                  <a:srgbClr val="14213D"/>
                </a:solidFill>
                <a:latin typeface="Arial" pitchFamily="34" charset="0"/>
                <a:ea typeface="Arial" pitchFamily="34" charset="-122"/>
                <a:cs typeface="Arial" pitchFamily="34" charset="-120"/>
              </a:rPr>
              <a:t>) really less than training on everything?</a:t>
            </a:r>
            <a:endParaRPr lang="en-US" sz="1600" dirty="0"/>
          </a:p>
        </p:txBody>
      </p:sp>
      <p:sp>
        <p:nvSpPr>
          <p:cNvPr id="7" name="Text 4"/>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8" name="Text 5"/>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PROBLEM STATEMENT</a:t>
            </a:r>
            <a:endParaRPr lang="en-US" sz="1200" dirty="0"/>
          </a:p>
        </p:txBody>
      </p:sp>
      <p:sp>
        <p:nvSpPr>
          <p:cNvPr id="3" name="Text 1"/>
          <p:cNvSpPr>
            <a:spLocks noGrp="1"/>
          </p:cNvSpPr>
          <p:nvPr>
            <p:ph type="title"/>
          </p:nvPr>
        </p:nvSpPr>
        <p:spPr>
          <a:xfrm>
            <a:off x="812800" y="1102320"/>
            <a:ext cx="981075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Georgia" pitchFamily="18" charset="0"/>
                <a:ea typeface="Georgia" pitchFamily="18" charset="-122"/>
                <a:cs typeface="Georgia" pitchFamily="18" charset="-120"/>
              </a:rPr>
              <a:t>Problem: train on fewer pictures, keep the accuracy, and save total time</a:t>
            </a:r>
            <a:endParaRPr lang="en-US" sz="3200" dirty="0"/>
          </a:p>
        </p:txBody>
      </p:sp>
      <p:sp>
        <p:nvSpPr>
          <p:cNvPr id="4" name="Text 2"/>
          <p:cNvSpPr/>
          <p:nvPr/>
        </p:nvSpPr>
        <p:spPr>
          <a:xfrm>
            <a:off x="812800" y="2392561"/>
            <a:ext cx="457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8461A"/>
                </a:solidFill>
                <a:latin typeface="Georgia" pitchFamily="18" charset="0"/>
                <a:ea typeface="Georgia" pitchFamily="18" charset="-122"/>
                <a:cs typeface="Georgia" pitchFamily="18" charset="-120"/>
              </a:rPr>
              <a:t>1</a:t>
            </a:r>
            <a:endParaRPr lang="en-US" sz="3200" dirty="0"/>
          </a:p>
        </p:txBody>
      </p:sp>
      <p:sp>
        <p:nvSpPr>
          <p:cNvPr id="5" name="Text 3"/>
          <p:cNvSpPr/>
          <p:nvPr/>
        </p:nvSpPr>
        <p:spPr>
          <a:xfrm>
            <a:off x="1422400" y="2604232"/>
            <a:ext cx="8864838" cy="56692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Pick a subset of the 50,000 CIFAR-10 training pictures so that ResNet-18 trained on it is within 1 point of full-data accuracy (94.3%).</a:t>
            </a:r>
            <a:endParaRPr lang="en-US" sz="1600" dirty="0"/>
          </a:p>
        </p:txBody>
      </p:sp>
      <p:sp>
        <p:nvSpPr>
          <p:cNvPr id="6" name="Text 4"/>
          <p:cNvSpPr/>
          <p:nvPr/>
        </p:nvSpPr>
        <p:spPr>
          <a:xfrm>
            <a:off x="812800" y="3139281"/>
            <a:ext cx="457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8461A"/>
                </a:solidFill>
                <a:latin typeface="Georgia" pitchFamily="18" charset="0"/>
                <a:ea typeface="Georgia" pitchFamily="18" charset="-122"/>
                <a:cs typeface="Georgia" pitchFamily="18" charset="-120"/>
              </a:rPr>
              <a:t>2</a:t>
            </a:r>
            <a:endParaRPr lang="en-US" sz="3200" dirty="0"/>
          </a:p>
        </p:txBody>
      </p:sp>
      <p:sp>
        <p:nvSpPr>
          <p:cNvPr id="7" name="Text 5"/>
          <p:cNvSpPr/>
          <p:nvPr/>
        </p:nvSpPr>
        <p:spPr>
          <a:xfrm>
            <a:off x="1422400" y="3350952"/>
            <a:ext cx="8443198" cy="56692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Count everything: scoring time + training time on the subset must be less than one full training </a:t>
            </a:r>
            <a:r>
              <a:rPr lang="en-US" sz="1600" dirty="0" smtClean="0">
                <a:solidFill>
                  <a:srgbClr val="14213D"/>
                </a:solidFill>
                <a:latin typeface="Arial" pitchFamily="34" charset="0"/>
                <a:ea typeface="Arial" pitchFamily="34" charset="-122"/>
                <a:cs typeface="Arial" pitchFamily="34" charset="-120"/>
              </a:rPr>
              <a:t>run.</a:t>
            </a:r>
            <a:endParaRPr lang="en-US" sz="1600" dirty="0"/>
          </a:p>
        </p:txBody>
      </p:sp>
      <p:sp>
        <p:nvSpPr>
          <p:cNvPr id="8" name="Text 6"/>
          <p:cNvSpPr/>
          <p:nvPr/>
        </p:nvSpPr>
        <p:spPr>
          <a:xfrm>
            <a:off x="812800" y="3886002"/>
            <a:ext cx="457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8461A"/>
                </a:solidFill>
                <a:latin typeface="Georgia" pitchFamily="18" charset="0"/>
                <a:ea typeface="Georgia" pitchFamily="18" charset="-122"/>
                <a:cs typeface="Georgia" pitchFamily="18" charset="-120"/>
              </a:rPr>
              <a:t>3</a:t>
            </a:r>
            <a:endParaRPr lang="en-US" sz="3200" dirty="0"/>
          </a:p>
        </p:txBody>
      </p:sp>
      <p:sp>
        <p:nvSpPr>
          <p:cNvPr id="9" name="Text 7"/>
          <p:cNvSpPr/>
          <p:nvPr/>
        </p:nvSpPr>
        <p:spPr>
          <a:xfrm>
            <a:off x="1422400" y="4097672"/>
            <a:ext cx="8905558" cy="56692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Mid-term: measure the standard EL2N scorer against random picking and fewer epochs, for accuracy and for time.</a:t>
            </a:r>
            <a:endParaRPr lang="en-US" sz="1600" dirty="0"/>
          </a:p>
        </p:txBody>
      </p:sp>
      <p:sp>
        <p:nvSpPr>
          <p:cNvPr id="10" name="Text 8"/>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1" name="Text 9"/>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6</a:t>
            </a:r>
            <a:endParaRPr lang="en-US" sz="1200" dirty="0"/>
          </a:p>
        </p:txBody>
      </p:sp>
      <p:sp>
        <p:nvSpPr>
          <p:cNvPr id="12" name="Text 7"/>
          <p:cNvSpPr/>
          <p:nvPr/>
        </p:nvSpPr>
        <p:spPr>
          <a:xfrm>
            <a:off x="813816" y="4983480"/>
            <a:ext cx="10607040" cy="8229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Arial" pitchFamily="34" charset="0"/>
                <a:ea typeface="Arial" pitchFamily="34" charset="-122"/>
                <a:cs typeface="Arial" pitchFamily="34" charset="-120"/>
              </a:rPr>
              <a:t>Why it matters: models are retrained many times (new settings, seeds, models). A scorer that picks a good subset cheaply makes every one of those runs cheaper. Our measurements tell exactly when pruning pays off.</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DEFINITIONS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What a “good subset” means</a:t>
            </a:r>
            <a:endParaRPr lang="en-US" sz="3200" dirty="0"/>
          </a:p>
        </p:txBody>
      </p:sp>
      <p:sp>
        <p:nvSpPr>
          <p:cNvPr id="4" name="Text 2"/>
          <p:cNvSpPr/>
          <p:nvPr/>
        </p:nvSpPr>
        <p:spPr>
          <a:xfrm>
            <a:off x="812800" y="1854138"/>
            <a:ext cx="9810750"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14213D"/>
                </a:solidFill>
                <a:latin typeface="Georgia" pitchFamily="18" charset="0"/>
                <a:ea typeface="Georgia" pitchFamily="18" charset="-122"/>
                <a:cs typeface="Georgia" pitchFamily="18" charset="-120"/>
              </a:rPr>
              <a:t>Almost as accurate as using all the data, with much less data, and less </a:t>
            </a:r>
            <a:r>
              <a:rPr lang="en-US" sz="2200" i="1" dirty="0">
                <a:solidFill>
                  <a:srgbClr val="14213D"/>
                </a:solidFill>
                <a:latin typeface="Georgia" pitchFamily="18" charset="0"/>
                <a:ea typeface="Georgia" pitchFamily="18" charset="-122"/>
                <a:cs typeface="Georgia" pitchFamily="18" charset="-120"/>
              </a:rPr>
              <a:t>total</a:t>
            </a:r>
            <a:r>
              <a:rPr lang="en-US" sz="2200" dirty="0">
                <a:solidFill>
                  <a:srgbClr val="14213D"/>
                </a:solidFill>
                <a:latin typeface="Georgia" pitchFamily="18" charset="0"/>
                <a:ea typeface="Georgia" pitchFamily="18" charset="-122"/>
                <a:cs typeface="Georgia" pitchFamily="18" charset="-120"/>
              </a:rPr>
              <a:t> time.</a:t>
            </a:r>
            <a:endParaRPr lang="en-US" sz="2200" dirty="0"/>
          </a:p>
        </p:txBody>
      </p:sp>
      <p:sp>
        <p:nvSpPr>
          <p:cNvPr id="5" name="Shape 3"/>
          <p:cNvSpPr/>
          <p:nvPr/>
        </p:nvSpPr>
        <p:spPr>
          <a:xfrm>
            <a:off x="812800" y="2857438"/>
            <a:ext cx="2508250" cy="1734608"/>
          </a:xfrm>
          <a:prstGeom prst="roundRect">
            <a:avLst>
              <a:gd name="adj" fmla="val 5857"/>
            </a:avLst>
          </a:prstGeom>
          <a:solidFill>
            <a:srgbClr val="FFFFFF"/>
          </a:solidFill>
          <a:ln/>
        </p:spPr>
        <p:txBody>
          <a:bodyPr/>
          <a:lstStyle/>
          <a:p>
            <a:endParaRPr/>
          </a:p>
        </p:txBody>
      </p:sp>
      <p:sp>
        <p:nvSpPr>
          <p:cNvPr id="6" name="Shape 4"/>
          <p:cNvSpPr/>
          <p:nvPr/>
        </p:nvSpPr>
        <p:spPr>
          <a:xfrm>
            <a:off x="812800" y="2857438"/>
            <a:ext cx="2508250" cy="1734608"/>
          </a:xfrm>
          <a:custGeom>
            <a:avLst/>
            <a:gdLst/>
            <a:ahLst/>
            <a:cxnLst/>
            <a:rect l="l" t="t" r="r" b="b"/>
            <a:pathLst>
              <a:path w="2508250" h="1734608">
                <a:moveTo>
                  <a:pt x="0" y="101600"/>
                </a:moveTo>
                <a:lnTo>
                  <a:pt x="0" y="101600"/>
                </a:lnTo>
                <a:arcTo wR="101600" hR="101600" stAng="10800000" swAng="5400000"/>
                <a:lnTo>
                  <a:pt x="2406650" y="0"/>
                </a:lnTo>
                <a:arcTo wR="101600" hR="101600" stAng="16200000" swAng="5400000"/>
                <a:lnTo>
                  <a:pt x="2508250" y="101600"/>
                </a:lnTo>
                <a:arcTo wR="101600" hR="63500" stAng="0" swAng="-5400000"/>
                <a:lnTo>
                  <a:pt x="101600" y="38100"/>
                </a:lnTo>
                <a:arcTo wR="101600" hR="63500" stAng="16200000" swAng="-5400000"/>
                <a:close/>
              </a:path>
            </a:pathLst>
          </a:custGeom>
          <a:solidFill>
            <a:srgbClr val="2A78D6"/>
          </a:solidFill>
          <a:ln/>
        </p:spPr>
        <p:txBody>
          <a:bodyPr/>
          <a:lstStyle/>
          <a:p>
            <a:endParaRPr/>
          </a:p>
        </p:txBody>
      </p:sp>
      <p:sp>
        <p:nvSpPr>
          <p:cNvPr id="7" name="Text 5"/>
          <p:cNvSpPr/>
          <p:nvPr/>
        </p:nvSpPr>
        <p:spPr>
          <a:xfrm>
            <a:off x="1041400" y="3124138"/>
            <a:ext cx="211258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1 · Accurate</a:t>
            </a:r>
            <a:endParaRPr lang="en-US" sz="1600" dirty="0"/>
          </a:p>
        </p:txBody>
      </p:sp>
      <p:sp>
        <p:nvSpPr>
          <p:cNvPr id="8" name="Text 6"/>
          <p:cNvSpPr/>
          <p:nvPr/>
        </p:nvSpPr>
        <p:spPr>
          <a:xfrm>
            <a:off x="1041400" y="3456849"/>
            <a:ext cx="2112582"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Within about 1 point of full data (94.32%).</a:t>
            </a:r>
            <a:endParaRPr lang="en-US" sz="1200" dirty="0"/>
          </a:p>
        </p:txBody>
      </p:sp>
      <p:sp>
        <p:nvSpPr>
          <p:cNvPr id="9" name="Shape 7"/>
          <p:cNvSpPr/>
          <p:nvPr/>
        </p:nvSpPr>
        <p:spPr>
          <a:xfrm>
            <a:off x="3498850" y="2857438"/>
            <a:ext cx="2508250" cy="1734608"/>
          </a:xfrm>
          <a:prstGeom prst="roundRect">
            <a:avLst>
              <a:gd name="adj" fmla="val 5857"/>
            </a:avLst>
          </a:prstGeom>
          <a:solidFill>
            <a:srgbClr val="FFFFFF"/>
          </a:solidFill>
          <a:ln/>
        </p:spPr>
        <p:txBody>
          <a:bodyPr/>
          <a:lstStyle/>
          <a:p>
            <a:endParaRPr/>
          </a:p>
        </p:txBody>
      </p:sp>
      <p:sp>
        <p:nvSpPr>
          <p:cNvPr id="10" name="Shape 8"/>
          <p:cNvSpPr/>
          <p:nvPr/>
        </p:nvSpPr>
        <p:spPr>
          <a:xfrm>
            <a:off x="3498850" y="2857438"/>
            <a:ext cx="2508250" cy="1734608"/>
          </a:xfrm>
          <a:custGeom>
            <a:avLst/>
            <a:gdLst/>
            <a:ahLst/>
            <a:cxnLst/>
            <a:rect l="l" t="t" r="r" b="b"/>
            <a:pathLst>
              <a:path w="2508250" h="1734608">
                <a:moveTo>
                  <a:pt x="0" y="101600"/>
                </a:moveTo>
                <a:lnTo>
                  <a:pt x="0" y="101600"/>
                </a:lnTo>
                <a:arcTo wR="101600" hR="101600" stAng="10800000" swAng="5400000"/>
                <a:lnTo>
                  <a:pt x="2406650" y="0"/>
                </a:lnTo>
                <a:arcTo wR="101600" hR="101600" stAng="16200000" swAng="5400000"/>
                <a:lnTo>
                  <a:pt x="2508250" y="101600"/>
                </a:lnTo>
                <a:arcTo wR="101600" hR="63500" stAng="0" swAng="-5400000"/>
                <a:lnTo>
                  <a:pt x="101600" y="38100"/>
                </a:lnTo>
                <a:arcTo wR="101600" hR="63500" stAng="16200000" swAng="-5400000"/>
                <a:close/>
              </a:path>
            </a:pathLst>
          </a:custGeom>
          <a:solidFill>
            <a:srgbClr val="2A78D6"/>
          </a:solidFill>
          <a:ln/>
        </p:spPr>
        <p:txBody>
          <a:bodyPr/>
          <a:lstStyle/>
          <a:p>
            <a:endParaRPr/>
          </a:p>
        </p:txBody>
      </p:sp>
      <p:sp>
        <p:nvSpPr>
          <p:cNvPr id="11" name="Text 9"/>
          <p:cNvSpPr/>
          <p:nvPr/>
        </p:nvSpPr>
        <p:spPr>
          <a:xfrm>
            <a:off x="3727450" y="3124138"/>
            <a:ext cx="211258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2 · Small</a:t>
            </a:r>
            <a:endParaRPr lang="en-US" sz="1600" dirty="0"/>
          </a:p>
        </p:txBody>
      </p:sp>
      <p:sp>
        <p:nvSpPr>
          <p:cNvPr id="12" name="Text 10"/>
          <p:cNvSpPr/>
          <p:nvPr/>
        </p:nvSpPr>
        <p:spPr>
          <a:xfrm>
            <a:off x="3727450" y="3456849"/>
            <a:ext cx="2112582"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Keeps 70% of the images or fewer.</a:t>
            </a:r>
            <a:endParaRPr lang="en-US" sz="1200" dirty="0"/>
          </a:p>
        </p:txBody>
      </p:sp>
      <p:sp>
        <p:nvSpPr>
          <p:cNvPr id="13" name="Shape 11"/>
          <p:cNvSpPr/>
          <p:nvPr/>
        </p:nvSpPr>
        <p:spPr>
          <a:xfrm>
            <a:off x="6184900" y="2857438"/>
            <a:ext cx="2508250" cy="1734608"/>
          </a:xfrm>
          <a:prstGeom prst="roundRect">
            <a:avLst>
              <a:gd name="adj" fmla="val 5857"/>
            </a:avLst>
          </a:prstGeom>
          <a:solidFill>
            <a:srgbClr val="FFFFFF"/>
          </a:solidFill>
          <a:ln/>
        </p:spPr>
        <p:txBody>
          <a:bodyPr/>
          <a:lstStyle/>
          <a:p>
            <a:endParaRPr/>
          </a:p>
        </p:txBody>
      </p:sp>
      <p:sp>
        <p:nvSpPr>
          <p:cNvPr id="14" name="Shape 12"/>
          <p:cNvSpPr/>
          <p:nvPr/>
        </p:nvSpPr>
        <p:spPr>
          <a:xfrm>
            <a:off x="6184900" y="2857438"/>
            <a:ext cx="2508250" cy="1734608"/>
          </a:xfrm>
          <a:custGeom>
            <a:avLst/>
            <a:gdLst/>
            <a:ahLst/>
            <a:cxnLst/>
            <a:rect l="l" t="t" r="r" b="b"/>
            <a:pathLst>
              <a:path w="2508250" h="1734608">
                <a:moveTo>
                  <a:pt x="0" y="101600"/>
                </a:moveTo>
                <a:lnTo>
                  <a:pt x="0" y="101600"/>
                </a:lnTo>
                <a:arcTo wR="101600" hR="101600" stAng="10800000" swAng="5400000"/>
                <a:lnTo>
                  <a:pt x="2406650" y="0"/>
                </a:lnTo>
                <a:arcTo wR="101600" hR="101600" stAng="16200000" swAng="5400000"/>
                <a:lnTo>
                  <a:pt x="2508250" y="101600"/>
                </a:lnTo>
                <a:arcTo wR="101600" hR="63500" stAng="0" swAng="-5400000"/>
                <a:lnTo>
                  <a:pt x="101600" y="38100"/>
                </a:lnTo>
                <a:arcTo wR="101600" hR="63500" stAng="16200000" swAng="-5400000"/>
                <a:close/>
              </a:path>
            </a:pathLst>
          </a:custGeom>
          <a:solidFill>
            <a:srgbClr val="2A78D6"/>
          </a:solidFill>
          <a:ln/>
        </p:spPr>
        <p:txBody>
          <a:bodyPr/>
          <a:lstStyle/>
          <a:p>
            <a:endParaRPr/>
          </a:p>
        </p:txBody>
      </p:sp>
      <p:sp>
        <p:nvSpPr>
          <p:cNvPr id="15" name="Text 13"/>
          <p:cNvSpPr/>
          <p:nvPr/>
        </p:nvSpPr>
        <p:spPr>
          <a:xfrm>
            <a:off x="6413500" y="3124138"/>
            <a:ext cx="2112582" cy="513027"/>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3 · Better than </a:t>
            </a:r>
            <a:r>
              <a:rPr lang="en-US" sz="1600" b="1" dirty="0" smtClean="0">
                <a:solidFill>
                  <a:srgbClr val="14213D"/>
                </a:solidFill>
                <a:latin typeface="Arial" pitchFamily="34" charset="0"/>
                <a:ea typeface="Arial" pitchFamily="34" charset="-122"/>
                <a:cs typeface="Arial" pitchFamily="34" charset="-120"/>
              </a:rPr>
              <a:t>random</a:t>
            </a:r>
            <a:endParaRPr lang="en-US" sz="1600" dirty="0"/>
          </a:p>
        </p:txBody>
      </p:sp>
      <p:sp>
        <p:nvSpPr>
          <p:cNvPr id="16" name="Text 14"/>
          <p:cNvSpPr/>
          <p:nvPr/>
        </p:nvSpPr>
        <p:spPr>
          <a:xfrm>
            <a:off x="6413500" y="3700661"/>
            <a:ext cx="2112582"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Does better than random </a:t>
            </a:r>
            <a:r>
              <a:rPr lang="en-US" sz="1200" dirty="0" smtClean="0">
                <a:solidFill>
                  <a:srgbClr val="14213D"/>
                </a:solidFill>
                <a:latin typeface="Arial" pitchFamily="34" charset="0"/>
                <a:ea typeface="Arial" pitchFamily="34" charset="-122"/>
                <a:cs typeface="Arial" pitchFamily="34" charset="-120"/>
              </a:rPr>
              <a:t>selection, </a:t>
            </a:r>
            <a:r>
              <a:rPr lang="en-US" sz="1200" dirty="0">
                <a:solidFill>
                  <a:srgbClr val="14213D"/>
                </a:solidFill>
                <a:latin typeface="Arial" pitchFamily="34" charset="0"/>
                <a:ea typeface="Arial" pitchFamily="34" charset="-122"/>
                <a:cs typeface="Arial" pitchFamily="34" charset="-120"/>
              </a:rPr>
              <a:t>and better than just training for less </a:t>
            </a:r>
            <a:r>
              <a:rPr lang="en-US" sz="1200" dirty="0" smtClean="0">
                <a:solidFill>
                  <a:srgbClr val="14213D"/>
                </a:solidFill>
                <a:latin typeface="Arial" pitchFamily="34" charset="0"/>
                <a:ea typeface="Arial" pitchFamily="34" charset="-122"/>
                <a:cs typeface="Arial" pitchFamily="34" charset="-120"/>
              </a:rPr>
              <a:t>time?</a:t>
            </a:r>
            <a:endParaRPr lang="en-US" sz="1200" dirty="0"/>
          </a:p>
        </p:txBody>
      </p:sp>
      <p:sp>
        <p:nvSpPr>
          <p:cNvPr id="17" name="Shape 15"/>
          <p:cNvSpPr/>
          <p:nvPr/>
        </p:nvSpPr>
        <p:spPr>
          <a:xfrm>
            <a:off x="8870950" y="2857438"/>
            <a:ext cx="2508250" cy="1734608"/>
          </a:xfrm>
          <a:prstGeom prst="roundRect">
            <a:avLst>
              <a:gd name="adj" fmla="val 5857"/>
            </a:avLst>
          </a:prstGeom>
          <a:solidFill>
            <a:srgbClr val="FFFFFF"/>
          </a:solidFill>
          <a:ln/>
        </p:spPr>
        <p:txBody>
          <a:bodyPr/>
          <a:lstStyle/>
          <a:p>
            <a:endParaRPr/>
          </a:p>
        </p:txBody>
      </p:sp>
      <p:sp>
        <p:nvSpPr>
          <p:cNvPr id="18" name="Shape 16"/>
          <p:cNvSpPr/>
          <p:nvPr/>
        </p:nvSpPr>
        <p:spPr>
          <a:xfrm>
            <a:off x="8870950" y="2857438"/>
            <a:ext cx="2508250" cy="1734608"/>
          </a:xfrm>
          <a:custGeom>
            <a:avLst/>
            <a:gdLst/>
            <a:ahLst/>
            <a:cxnLst/>
            <a:rect l="l" t="t" r="r" b="b"/>
            <a:pathLst>
              <a:path w="2508250" h="1734608">
                <a:moveTo>
                  <a:pt x="0" y="101600"/>
                </a:moveTo>
                <a:lnTo>
                  <a:pt x="0" y="101600"/>
                </a:lnTo>
                <a:arcTo wR="101600" hR="101600" stAng="10800000" swAng="5400000"/>
                <a:lnTo>
                  <a:pt x="2406650" y="0"/>
                </a:lnTo>
                <a:arcTo wR="101600" hR="101600" stAng="16200000" swAng="5400000"/>
                <a:lnTo>
                  <a:pt x="2508250" y="101600"/>
                </a:lnTo>
                <a:arcTo wR="101600" hR="63500" stAng="0" swAng="-5400000"/>
                <a:lnTo>
                  <a:pt x="101600" y="38100"/>
                </a:lnTo>
                <a:arcTo wR="101600" hR="63500" stAng="16200000" swAng="-5400000"/>
                <a:close/>
              </a:path>
            </a:pathLst>
          </a:custGeom>
          <a:solidFill>
            <a:schemeClr val="tx1">
              <a:lumMod val="50000"/>
              <a:lumOff val="50000"/>
            </a:schemeClr>
          </a:solidFill>
          <a:ln/>
        </p:spPr>
        <p:txBody>
          <a:bodyPr/>
          <a:lstStyle/>
          <a:p>
            <a:endParaRPr/>
          </a:p>
        </p:txBody>
      </p:sp>
      <p:sp>
        <p:nvSpPr>
          <p:cNvPr id="19" name="Text 17"/>
          <p:cNvSpPr/>
          <p:nvPr/>
        </p:nvSpPr>
        <p:spPr>
          <a:xfrm>
            <a:off x="9099550" y="3124138"/>
            <a:ext cx="211258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4 · Cheaper</a:t>
            </a:r>
            <a:endParaRPr lang="en-US" sz="1600" dirty="0"/>
          </a:p>
        </p:txBody>
      </p:sp>
      <p:sp>
        <p:nvSpPr>
          <p:cNvPr id="20" name="Text 18"/>
          <p:cNvSpPr/>
          <p:nvPr/>
        </p:nvSpPr>
        <p:spPr>
          <a:xfrm>
            <a:off x="9099550" y="3456849"/>
            <a:ext cx="2112582"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Scoring plus training takes less time than one normal training run.</a:t>
            </a:r>
            <a:endParaRPr lang="en-US" sz="1200" dirty="0"/>
          </a:p>
        </p:txBody>
      </p:sp>
      <p:sp>
        <p:nvSpPr>
          <p:cNvPr id="21" name="Text 19"/>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2" name="Text 20"/>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7</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DEFINITIONS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How we measure cost</a:t>
            </a:r>
            <a:endParaRPr lang="en-US" sz="3200" dirty="0"/>
          </a:p>
        </p:txBody>
      </p:sp>
      <p:sp>
        <p:nvSpPr>
          <p:cNvPr id="4" name="Shape 2"/>
          <p:cNvSpPr/>
          <p:nvPr/>
        </p:nvSpPr>
        <p:spPr>
          <a:xfrm>
            <a:off x="812800" y="1828738"/>
            <a:ext cx="3403600" cy="1318154"/>
          </a:xfrm>
          <a:prstGeom prst="roundRect">
            <a:avLst>
              <a:gd name="adj" fmla="val 7708"/>
            </a:avLst>
          </a:prstGeom>
          <a:solidFill>
            <a:srgbClr val="E6EFFA"/>
          </a:solidFill>
          <a:ln/>
        </p:spPr>
        <p:txBody>
          <a:bodyPr/>
          <a:lstStyle/>
          <a:p>
            <a:endParaRPr/>
          </a:p>
        </p:txBody>
      </p:sp>
      <p:sp>
        <p:nvSpPr>
          <p:cNvPr id="5" name="Text 3"/>
          <p:cNvSpPr/>
          <p:nvPr/>
        </p:nvSpPr>
        <p:spPr>
          <a:xfrm>
            <a:off x="1016000" y="2031938"/>
            <a:ext cx="308711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FAE"/>
                </a:solidFill>
                <a:latin typeface="Georgia" pitchFamily="18" charset="0"/>
                <a:ea typeface="Georgia" pitchFamily="18" charset="-122"/>
                <a:cs typeface="Georgia" pitchFamily="18" charset="-120"/>
              </a:rPr>
              <a:t>F</a:t>
            </a:r>
            <a:endParaRPr lang="en-US" sz="3200" dirty="0"/>
          </a:p>
        </p:txBody>
      </p:sp>
      <p:sp>
        <p:nvSpPr>
          <p:cNvPr id="6" name="Text 4"/>
          <p:cNvSpPr/>
          <p:nvPr/>
        </p:nvSpPr>
        <p:spPr>
          <a:xfrm>
            <a:off x="1016000" y="2501838"/>
            <a:ext cx="3087116"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Time to train once on all the data (60 epochs). We call this 100%.</a:t>
            </a:r>
            <a:endParaRPr lang="en-US" sz="1200" dirty="0"/>
          </a:p>
        </p:txBody>
      </p:sp>
      <p:sp>
        <p:nvSpPr>
          <p:cNvPr id="7" name="Shape 5"/>
          <p:cNvSpPr/>
          <p:nvPr/>
        </p:nvSpPr>
        <p:spPr>
          <a:xfrm>
            <a:off x="4394200" y="1828738"/>
            <a:ext cx="3403600" cy="1318154"/>
          </a:xfrm>
          <a:prstGeom prst="roundRect">
            <a:avLst>
              <a:gd name="adj" fmla="val 7708"/>
            </a:avLst>
          </a:prstGeom>
          <a:solidFill>
            <a:srgbClr val="E6EFFA"/>
          </a:solidFill>
          <a:ln/>
        </p:spPr>
        <p:txBody>
          <a:bodyPr/>
          <a:lstStyle/>
          <a:p>
            <a:endParaRPr/>
          </a:p>
        </p:txBody>
      </p:sp>
      <p:sp>
        <p:nvSpPr>
          <p:cNvPr id="8" name="Text 6"/>
          <p:cNvSpPr/>
          <p:nvPr/>
        </p:nvSpPr>
        <p:spPr>
          <a:xfrm>
            <a:off x="4597400" y="2031938"/>
            <a:ext cx="308711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FAE"/>
                </a:solidFill>
                <a:latin typeface="Georgia" pitchFamily="18" charset="0"/>
                <a:ea typeface="Georgia" pitchFamily="18" charset="-122"/>
                <a:cs typeface="Georgia" pitchFamily="18" charset="-120"/>
              </a:rPr>
              <a:t>S</a:t>
            </a:r>
            <a:endParaRPr lang="en-US" sz="3200" dirty="0"/>
          </a:p>
        </p:txBody>
      </p:sp>
      <p:sp>
        <p:nvSpPr>
          <p:cNvPr id="9" name="Text 7"/>
          <p:cNvSpPr/>
          <p:nvPr/>
        </p:nvSpPr>
        <p:spPr>
          <a:xfrm>
            <a:off x="4597400" y="2501838"/>
            <a:ext cx="3087116"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Time to make the scores: train the scorer models, then score every picture.</a:t>
            </a:r>
            <a:endParaRPr lang="en-US" sz="1200" dirty="0"/>
          </a:p>
        </p:txBody>
      </p:sp>
      <p:sp>
        <p:nvSpPr>
          <p:cNvPr id="10" name="Shape 8"/>
          <p:cNvSpPr/>
          <p:nvPr/>
        </p:nvSpPr>
        <p:spPr>
          <a:xfrm>
            <a:off x="7975600" y="1828738"/>
            <a:ext cx="3403600" cy="1318154"/>
          </a:xfrm>
          <a:prstGeom prst="roundRect">
            <a:avLst>
              <a:gd name="adj" fmla="val 7708"/>
            </a:avLst>
          </a:prstGeom>
          <a:solidFill>
            <a:srgbClr val="E6EFFA"/>
          </a:solidFill>
          <a:ln/>
        </p:spPr>
        <p:txBody>
          <a:bodyPr/>
          <a:lstStyle/>
          <a:p>
            <a:endParaRPr/>
          </a:p>
        </p:txBody>
      </p:sp>
      <p:sp>
        <p:nvSpPr>
          <p:cNvPr id="11" name="Text 9"/>
          <p:cNvSpPr/>
          <p:nvPr/>
        </p:nvSpPr>
        <p:spPr>
          <a:xfrm>
            <a:off x="8178800" y="2031938"/>
            <a:ext cx="308711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FAE"/>
                </a:solidFill>
                <a:latin typeface="Georgia" pitchFamily="18" charset="0"/>
                <a:ea typeface="Georgia" pitchFamily="18" charset="-122"/>
                <a:cs typeface="Georgia" pitchFamily="18" charset="-120"/>
              </a:rPr>
              <a:t>f</a:t>
            </a:r>
            <a:endParaRPr lang="en-US" sz="3200" dirty="0"/>
          </a:p>
        </p:txBody>
      </p:sp>
      <p:sp>
        <p:nvSpPr>
          <p:cNvPr id="12" name="Text 10"/>
          <p:cNvSpPr/>
          <p:nvPr/>
        </p:nvSpPr>
        <p:spPr>
          <a:xfrm>
            <a:off x="8178800" y="2501838"/>
            <a:ext cx="3087116"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Share of the data we keep. Training on it takes about f × F.</a:t>
            </a:r>
            <a:endParaRPr lang="en-US" sz="1200" dirty="0"/>
          </a:p>
        </p:txBody>
      </p:sp>
      <p:sp>
        <p:nvSpPr>
          <p:cNvPr id="13" name="Shape 11"/>
          <p:cNvSpPr/>
          <p:nvPr/>
        </p:nvSpPr>
        <p:spPr>
          <a:xfrm>
            <a:off x="812800" y="3426290"/>
            <a:ext cx="5194300" cy="1181034"/>
          </a:xfrm>
          <a:prstGeom prst="roundRect">
            <a:avLst>
              <a:gd name="adj" fmla="val 8603"/>
            </a:avLst>
          </a:prstGeom>
          <a:solidFill>
            <a:srgbClr val="14213D"/>
          </a:solidFill>
          <a:ln/>
        </p:spPr>
        <p:txBody>
          <a:bodyPr/>
          <a:lstStyle/>
          <a:p>
            <a:endParaRPr/>
          </a:p>
        </p:txBody>
      </p:sp>
      <p:sp>
        <p:nvSpPr>
          <p:cNvPr id="14" name="Text 12"/>
          <p:cNvSpPr/>
          <p:nvPr/>
        </p:nvSpPr>
        <p:spPr>
          <a:xfrm>
            <a:off x="1041400" y="3654890"/>
            <a:ext cx="48792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Arial" pitchFamily="34" charset="0"/>
                <a:ea typeface="Arial" pitchFamily="34" charset="-122"/>
                <a:cs typeface="Arial" pitchFamily="34" charset="-120"/>
              </a:rPr>
              <a:t>Total cost of pruning</a:t>
            </a:r>
            <a:endParaRPr lang="en-US" sz="1200" dirty="0"/>
          </a:p>
        </p:txBody>
      </p:sp>
      <p:sp>
        <p:nvSpPr>
          <p:cNvPr id="15" name="Text 13"/>
          <p:cNvSpPr/>
          <p:nvPr/>
        </p:nvSpPr>
        <p:spPr>
          <a:xfrm>
            <a:off x="1041400" y="3931710"/>
            <a:ext cx="487921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BFBF8"/>
                </a:solidFill>
                <a:latin typeface="Georgia" pitchFamily="18" charset="0"/>
                <a:ea typeface="Georgia" pitchFamily="18" charset="-122"/>
                <a:cs typeface="Georgia" pitchFamily="18" charset="-120"/>
              </a:rPr>
              <a:t>S + f·F</a:t>
            </a:r>
            <a:endParaRPr lang="en-US" sz="3200" dirty="0"/>
          </a:p>
        </p:txBody>
      </p:sp>
      <p:sp>
        <p:nvSpPr>
          <p:cNvPr id="16" name="Shape 14"/>
          <p:cNvSpPr/>
          <p:nvPr/>
        </p:nvSpPr>
        <p:spPr>
          <a:xfrm>
            <a:off x="6184900" y="3426290"/>
            <a:ext cx="5194300" cy="1181034"/>
          </a:xfrm>
          <a:prstGeom prst="roundRect">
            <a:avLst>
              <a:gd name="adj" fmla="val 8603"/>
            </a:avLst>
          </a:prstGeom>
          <a:solidFill>
            <a:srgbClr val="FBE7DD"/>
          </a:solidFill>
          <a:ln/>
        </p:spPr>
        <p:txBody>
          <a:bodyPr/>
          <a:lstStyle/>
          <a:p>
            <a:endParaRPr/>
          </a:p>
        </p:txBody>
      </p:sp>
      <p:sp>
        <p:nvSpPr>
          <p:cNvPr id="17" name="Text 15"/>
          <p:cNvSpPr/>
          <p:nvPr/>
        </p:nvSpPr>
        <p:spPr>
          <a:xfrm>
            <a:off x="6413500" y="3654890"/>
            <a:ext cx="487921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61A"/>
                </a:solidFill>
                <a:latin typeface="Arial" pitchFamily="34" charset="0"/>
                <a:ea typeface="Arial" pitchFamily="34" charset="-122"/>
                <a:cs typeface="Arial" pitchFamily="34" charset="-120"/>
              </a:rPr>
              <a:t>Saves time only if</a:t>
            </a:r>
            <a:endParaRPr lang="en-US" sz="1200" dirty="0"/>
          </a:p>
        </p:txBody>
      </p:sp>
      <p:sp>
        <p:nvSpPr>
          <p:cNvPr id="18" name="Text 16"/>
          <p:cNvSpPr/>
          <p:nvPr/>
        </p:nvSpPr>
        <p:spPr>
          <a:xfrm>
            <a:off x="6413500" y="3931710"/>
            <a:ext cx="487921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8461A"/>
                </a:solidFill>
                <a:latin typeface="Georgia" pitchFamily="18" charset="0"/>
                <a:ea typeface="Georgia" pitchFamily="18" charset="-122"/>
                <a:cs typeface="Georgia" pitchFamily="18" charset="-120"/>
              </a:rPr>
              <a:t>f &lt; 1 − S/F</a:t>
            </a:r>
            <a:endParaRPr lang="en-US" sz="3200" dirty="0"/>
          </a:p>
        </p:txBody>
      </p:sp>
      <p:sp>
        <p:nvSpPr>
          <p:cNvPr id="19" name="Text 17"/>
          <p:cNvSpPr/>
          <p:nvPr/>
        </p:nvSpPr>
        <p:spPr>
          <a:xfrm>
            <a:off x="812800" y="488672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We measure real time on the GPU, using the same kind of GPU (NVIDIA L40S) every time.</a:t>
            </a:r>
            <a:endParaRPr lang="en-US" sz="1200" dirty="0"/>
          </a:p>
        </p:txBody>
      </p:sp>
      <p:sp>
        <p:nvSpPr>
          <p:cNvPr id="20" name="Text 18"/>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1" name="Text 19"/>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8</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HOW WE DID IT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Three experiments, run in order</a:t>
            </a:r>
            <a:endParaRPr lang="en-US" sz="3200" dirty="0"/>
          </a:p>
        </p:txBody>
      </p:sp>
      <p:sp>
        <p:nvSpPr>
          <p:cNvPr id="18" name="Text 14"/>
          <p:cNvSpPr/>
          <p:nvPr/>
        </p:nvSpPr>
        <p:spPr>
          <a:xfrm>
            <a:off x="812800" y="5559552"/>
            <a:ext cx="10883392" cy="457200"/>
          </a:xfrm>
          <a:prstGeom prst="rect">
            <a:avLst/>
          </a:prstGeom>
          <a:noFill/>
          <a:ln/>
        </p:spPr>
        <p:txBody>
          <a:bodyPr wrap="square" lIns="0" tIns="0" rIns="0" bIns="0" rtlCol="0" anchor="t">
            <a:normAutofit fontScale="85000" lnSpcReduction="10000"/>
          </a:bodyPr>
          <a:lstStyle/>
          <a:p>
            <a:pPr marL="0" indent="0" algn="l">
              <a:lnSpc>
                <a:spcPts val="1960"/>
              </a:lnSpc>
              <a:buNone/>
            </a:pPr>
            <a:r>
              <a:rPr lang="en-US" sz="1500" dirty="0">
                <a:solidFill>
                  <a:srgbClr val="14213D"/>
                </a:solidFill>
                <a:latin typeface="Arial" pitchFamily="34" charset="0"/>
                <a:ea typeface="Arial" pitchFamily="34" charset="-122"/>
                <a:cs typeface="Arial" pitchFamily="34" charset="-120"/>
              </a:rPr>
              <a:t>Total: 27 + 3 + 24 = 54 runs, i.e. 51 training runs (baselines + main) and 3 scorer runs. Every training run is a new ResNet-18 trained from scratch.</a:t>
            </a:r>
            <a:endParaRPr lang="en-US" sz="1400" dirty="0"/>
          </a:p>
        </p:txBody>
      </p:sp>
      <p:sp>
        <p:nvSpPr>
          <p:cNvPr id="19" name="Text 15"/>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0" name="Text 16"/>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9</a:t>
            </a:r>
            <a:endParaRPr lang="en-US" sz="1200" dirty="0"/>
          </a:p>
        </p:txBody>
      </p:sp>
      <p:sp>
        <p:nvSpPr>
          <p:cNvPr id="21" name="Rounded Rectangle 20"/>
          <p:cNvSpPr/>
          <p:nvPr/>
        </p:nvSpPr>
        <p:spPr>
          <a:xfrm>
            <a:off x="813816" y="2221991"/>
            <a:ext cx="2103120" cy="658368"/>
          </a:xfrm>
          <a:prstGeom prst="roundRect">
            <a:avLst>
              <a:gd name="adj" fmla="val 18000"/>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500" b="1">
                <a:solidFill>
                  <a:srgbClr val="FFFFFF"/>
                </a:solidFill>
                <a:latin typeface="Arial"/>
              </a:rPr>
              <a:t>Baselines</a:t>
            </a:r>
          </a:p>
          <a:p>
            <a:pPr algn="ctr"/>
            <a:r>
              <a:rPr sz="1400" b="0">
                <a:solidFill>
                  <a:srgbClr val="FFFFFF"/>
                </a:solidFill>
                <a:latin typeface="Arial"/>
              </a:rPr>
              <a:t>27 runs</a:t>
            </a:r>
          </a:p>
        </p:txBody>
      </p:sp>
      <p:cxnSp>
        <p:nvCxnSpPr>
          <p:cNvPr id="22" name="Connector 21"/>
          <p:cNvCxnSpPr/>
          <p:nvPr/>
        </p:nvCxnSpPr>
        <p:spPr>
          <a:xfrm flipV="1">
            <a:off x="2916936" y="2020824"/>
            <a:ext cx="512064" cy="530351"/>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429000" y="1810512"/>
            <a:ext cx="2331720" cy="420624"/>
          </a:xfrm>
          <a:prstGeom prst="roundRect">
            <a:avLst>
              <a:gd name="adj" fmla="val 18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All data · 3 runs</a:t>
            </a:r>
          </a:p>
        </p:txBody>
      </p:sp>
      <p:cxnSp>
        <p:nvCxnSpPr>
          <p:cNvPr id="24" name="Connector 23"/>
          <p:cNvCxnSpPr/>
          <p:nvPr/>
        </p:nvCxnSpPr>
        <p:spPr>
          <a:xfrm>
            <a:off x="5760720" y="2020824"/>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63640" y="1847088"/>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60 epochs</a:t>
            </a:r>
          </a:p>
        </p:txBody>
      </p:sp>
      <p:sp>
        <p:nvSpPr>
          <p:cNvPr id="26" name="TextBox 25"/>
          <p:cNvSpPr txBox="1"/>
          <p:nvPr/>
        </p:nvSpPr>
        <p:spPr>
          <a:xfrm>
            <a:off x="9829800" y="1810512"/>
            <a:ext cx="1600200" cy="420624"/>
          </a:xfrm>
          <a:prstGeom prst="rect">
            <a:avLst/>
          </a:prstGeom>
          <a:noFill/>
        </p:spPr>
        <p:txBody>
          <a:bodyPr wrap="square" anchor="ctr">
            <a:spAutoFit/>
          </a:bodyPr>
          <a:lstStyle/>
          <a:p>
            <a:r>
              <a:rPr sz="1200" b="1">
                <a:solidFill>
                  <a:srgbClr val="14213D"/>
                </a:solidFill>
                <a:latin typeface="Arial"/>
              </a:rPr>
              <a:t>× 3 seeds = 3</a:t>
            </a:r>
          </a:p>
        </p:txBody>
      </p:sp>
      <p:cxnSp>
        <p:nvCxnSpPr>
          <p:cNvPr id="27" name="Connector 26"/>
          <p:cNvCxnSpPr/>
          <p:nvPr/>
        </p:nvCxnSpPr>
        <p:spPr>
          <a:xfrm>
            <a:off x="2916936" y="2551175"/>
            <a:ext cx="512064" cy="1"/>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429000" y="2340864"/>
            <a:ext cx="2331720" cy="420624"/>
          </a:xfrm>
          <a:prstGeom prst="roundRect">
            <a:avLst>
              <a:gd name="adj" fmla="val 18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Random · 12 runs</a:t>
            </a:r>
          </a:p>
        </p:txBody>
      </p:sp>
      <p:cxnSp>
        <p:nvCxnSpPr>
          <p:cNvPr id="29" name="Connector 28"/>
          <p:cNvCxnSpPr/>
          <p:nvPr/>
        </p:nvCxnSpPr>
        <p:spPr>
          <a:xfrm>
            <a:off x="5760720" y="2551176"/>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63640" y="2377440"/>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90%</a:t>
            </a:r>
          </a:p>
        </p:txBody>
      </p:sp>
      <p:sp>
        <p:nvSpPr>
          <p:cNvPr id="31" name="Rounded Rectangle 30"/>
          <p:cNvSpPr/>
          <p:nvPr/>
        </p:nvSpPr>
        <p:spPr>
          <a:xfrm>
            <a:off x="7159752" y="2377440"/>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70%</a:t>
            </a:r>
          </a:p>
        </p:txBody>
      </p:sp>
      <p:sp>
        <p:nvSpPr>
          <p:cNvPr id="32" name="Rounded Rectangle 31"/>
          <p:cNvSpPr/>
          <p:nvPr/>
        </p:nvSpPr>
        <p:spPr>
          <a:xfrm>
            <a:off x="8055863" y="2377440"/>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50%</a:t>
            </a:r>
          </a:p>
        </p:txBody>
      </p:sp>
      <p:sp>
        <p:nvSpPr>
          <p:cNvPr id="33" name="Rounded Rectangle 32"/>
          <p:cNvSpPr/>
          <p:nvPr/>
        </p:nvSpPr>
        <p:spPr>
          <a:xfrm>
            <a:off x="8951976" y="2377440"/>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30%</a:t>
            </a:r>
          </a:p>
        </p:txBody>
      </p:sp>
      <p:sp>
        <p:nvSpPr>
          <p:cNvPr id="34" name="TextBox 33"/>
          <p:cNvSpPr txBox="1"/>
          <p:nvPr/>
        </p:nvSpPr>
        <p:spPr>
          <a:xfrm>
            <a:off x="9829800" y="2340864"/>
            <a:ext cx="1600200" cy="420624"/>
          </a:xfrm>
          <a:prstGeom prst="rect">
            <a:avLst/>
          </a:prstGeom>
          <a:noFill/>
        </p:spPr>
        <p:txBody>
          <a:bodyPr wrap="square" anchor="ctr">
            <a:spAutoFit/>
          </a:bodyPr>
          <a:lstStyle/>
          <a:p>
            <a:r>
              <a:rPr sz="1200" b="1">
                <a:solidFill>
                  <a:srgbClr val="14213D"/>
                </a:solidFill>
                <a:latin typeface="Arial"/>
              </a:rPr>
              <a:t>4 × 3 seeds = 12</a:t>
            </a:r>
          </a:p>
        </p:txBody>
      </p:sp>
      <p:cxnSp>
        <p:nvCxnSpPr>
          <p:cNvPr id="35" name="Connector 34"/>
          <p:cNvCxnSpPr/>
          <p:nvPr/>
        </p:nvCxnSpPr>
        <p:spPr>
          <a:xfrm>
            <a:off x="2916936" y="2551175"/>
            <a:ext cx="512064" cy="530352"/>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29000" y="2871215"/>
            <a:ext cx="2331720" cy="420624"/>
          </a:xfrm>
          <a:prstGeom prst="roundRect">
            <a:avLst>
              <a:gd name="adj" fmla="val 18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Fewer epochs · 12 runs</a:t>
            </a:r>
          </a:p>
        </p:txBody>
      </p:sp>
      <p:cxnSp>
        <p:nvCxnSpPr>
          <p:cNvPr id="37" name="Connector 36"/>
          <p:cNvCxnSpPr/>
          <p:nvPr/>
        </p:nvCxnSpPr>
        <p:spPr>
          <a:xfrm>
            <a:off x="5760720" y="3081527"/>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63640" y="2907791"/>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54 ep</a:t>
            </a:r>
          </a:p>
        </p:txBody>
      </p:sp>
      <p:sp>
        <p:nvSpPr>
          <p:cNvPr id="39" name="Rounded Rectangle 38"/>
          <p:cNvSpPr/>
          <p:nvPr/>
        </p:nvSpPr>
        <p:spPr>
          <a:xfrm>
            <a:off x="7159752" y="2907791"/>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42 ep</a:t>
            </a:r>
          </a:p>
        </p:txBody>
      </p:sp>
      <p:sp>
        <p:nvSpPr>
          <p:cNvPr id="40" name="Rounded Rectangle 39"/>
          <p:cNvSpPr/>
          <p:nvPr/>
        </p:nvSpPr>
        <p:spPr>
          <a:xfrm>
            <a:off x="8055863" y="2907791"/>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30 ep</a:t>
            </a:r>
          </a:p>
        </p:txBody>
      </p:sp>
      <p:sp>
        <p:nvSpPr>
          <p:cNvPr id="41" name="Rounded Rectangle 40"/>
          <p:cNvSpPr/>
          <p:nvPr/>
        </p:nvSpPr>
        <p:spPr>
          <a:xfrm>
            <a:off x="8951976" y="2907791"/>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18 ep</a:t>
            </a:r>
          </a:p>
        </p:txBody>
      </p:sp>
      <p:sp>
        <p:nvSpPr>
          <p:cNvPr id="42" name="TextBox 41"/>
          <p:cNvSpPr txBox="1"/>
          <p:nvPr/>
        </p:nvSpPr>
        <p:spPr>
          <a:xfrm>
            <a:off x="9829800" y="2871215"/>
            <a:ext cx="1600200" cy="420624"/>
          </a:xfrm>
          <a:prstGeom prst="rect">
            <a:avLst/>
          </a:prstGeom>
          <a:noFill/>
        </p:spPr>
        <p:txBody>
          <a:bodyPr wrap="square" anchor="ctr">
            <a:spAutoFit/>
          </a:bodyPr>
          <a:lstStyle/>
          <a:p>
            <a:r>
              <a:rPr sz="1200" b="1">
                <a:solidFill>
                  <a:srgbClr val="14213D"/>
                </a:solidFill>
                <a:latin typeface="Arial"/>
              </a:rPr>
              <a:t>4 × 3 seeds = 12</a:t>
            </a:r>
          </a:p>
        </p:txBody>
      </p:sp>
      <p:sp>
        <p:nvSpPr>
          <p:cNvPr id="43" name="Rounded Rectangle 42"/>
          <p:cNvSpPr/>
          <p:nvPr/>
        </p:nvSpPr>
        <p:spPr>
          <a:xfrm>
            <a:off x="813816" y="3465575"/>
            <a:ext cx="2103120" cy="658368"/>
          </a:xfrm>
          <a:prstGeom prst="roundRect">
            <a:avLst>
              <a:gd name="adj" fmla="val 18000"/>
            </a:avLst>
          </a:prstGeom>
          <a:solidFill>
            <a:srgbClr val="B8461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500" b="1">
                <a:solidFill>
                  <a:srgbClr val="FFFFFF"/>
                </a:solidFill>
                <a:latin typeface="Arial"/>
              </a:rPr>
              <a:t>Scoring</a:t>
            </a:r>
          </a:p>
          <a:p>
            <a:pPr algn="ctr"/>
            <a:r>
              <a:rPr sz="1400" b="0">
                <a:solidFill>
                  <a:srgbClr val="FFFFFF"/>
                </a:solidFill>
                <a:latin typeface="Arial"/>
              </a:rPr>
              <a:t>3 runs</a:t>
            </a:r>
          </a:p>
        </p:txBody>
      </p:sp>
      <p:cxnSp>
        <p:nvCxnSpPr>
          <p:cNvPr id="44" name="Connector 43"/>
          <p:cNvCxnSpPr/>
          <p:nvPr/>
        </p:nvCxnSpPr>
        <p:spPr>
          <a:xfrm>
            <a:off x="2916936" y="3794759"/>
            <a:ext cx="512064"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429000" y="3584447"/>
            <a:ext cx="2331720" cy="420624"/>
          </a:xfrm>
          <a:prstGeom prst="roundRect">
            <a:avLst>
              <a:gd name="adj" fmla="val 18000"/>
            </a:avLst>
          </a:prstGeom>
          <a:solidFill>
            <a:srgbClr val="FBE7DD"/>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ResNet-18 scorer · 3 runs</a:t>
            </a:r>
          </a:p>
        </p:txBody>
      </p:sp>
      <p:cxnSp>
        <p:nvCxnSpPr>
          <p:cNvPr id="46" name="Connector 45"/>
          <p:cNvCxnSpPr/>
          <p:nvPr/>
        </p:nvCxnSpPr>
        <p:spPr>
          <a:xfrm>
            <a:off x="5760720" y="3794759"/>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263640" y="3621023"/>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seed 1000</a:t>
            </a:r>
          </a:p>
        </p:txBody>
      </p:sp>
      <p:sp>
        <p:nvSpPr>
          <p:cNvPr id="48" name="Rounded Rectangle 47"/>
          <p:cNvSpPr/>
          <p:nvPr/>
        </p:nvSpPr>
        <p:spPr>
          <a:xfrm>
            <a:off x="7159752" y="3621023"/>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seed 1001</a:t>
            </a:r>
          </a:p>
        </p:txBody>
      </p:sp>
      <p:sp>
        <p:nvSpPr>
          <p:cNvPr id="49" name="Rounded Rectangle 48"/>
          <p:cNvSpPr/>
          <p:nvPr/>
        </p:nvSpPr>
        <p:spPr>
          <a:xfrm>
            <a:off x="8055863" y="3621023"/>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seed 1002</a:t>
            </a:r>
          </a:p>
        </p:txBody>
      </p:sp>
      <p:sp>
        <p:nvSpPr>
          <p:cNvPr id="50" name="TextBox 49"/>
          <p:cNvSpPr txBox="1"/>
          <p:nvPr/>
        </p:nvSpPr>
        <p:spPr>
          <a:xfrm>
            <a:off x="9829800" y="3584447"/>
            <a:ext cx="1600200" cy="420624"/>
          </a:xfrm>
          <a:prstGeom prst="rect">
            <a:avLst/>
          </a:prstGeom>
          <a:noFill/>
        </p:spPr>
        <p:txBody>
          <a:bodyPr wrap="square" anchor="ctr">
            <a:spAutoFit/>
          </a:bodyPr>
          <a:lstStyle/>
          <a:p>
            <a:r>
              <a:rPr sz="1200" b="1">
                <a:solidFill>
                  <a:srgbClr val="B8461A"/>
                </a:solidFill>
                <a:latin typeface="Arial"/>
              </a:rPr>
              <a:t>3 seeds = 3</a:t>
            </a:r>
          </a:p>
        </p:txBody>
      </p:sp>
      <p:sp>
        <p:nvSpPr>
          <p:cNvPr id="51" name="Rounded Rectangle 50"/>
          <p:cNvSpPr/>
          <p:nvPr/>
        </p:nvSpPr>
        <p:spPr>
          <a:xfrm>
            <a:off x="813816" y="4443984"/>
            <a:ext cx="2103120" cy="658368"/>
          </a:xfrm>
          <a:prstGeom prst="roundRect">
            <a:avLst>
              <a:gd name="adj" fmla="val 18000"/>
            </a:avLst>
          </a:prstGeom>
          <a:solidFill>
            <a:srgbClr val="1C5CAB"/>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500" b="1">
                <a:solidFill>
                  <a:srgbClr val="FFFFFF"/>
                </a:solidFill>
                <a:latin typeface="Arial"/>
              </a:rPr>
              <a:t>Main (pruning)</a:t>
            </a:r>
          </a:p>
          <a:p>
            <a:pPr algn="ctr"/>
            <a:r>
              <a:rPr sz="1400" b="0">
                <a:solidFill>
                  <a:srgbClr val="FFFFFF"/>
                </a:solidFill>
                <a:latin typeface="Arial"/>
              </a:rPr>
              <a:t>24 runs</a:t>
            </a:r>
          </a:p>
        </p:txBody>
      </p:sp>
      <p:cxnSp>
        <p:nvCxnSpPr>
          <p:cNvPr id="52" name="Connector 51"/>
          <p:cNvCxnSpPr/>
          <p:nvPr/>
        </p:nvCxnSpPr>
        <p:spPr>
          <a:xfrm flipV="1">
            <a:off x="2916936" y="4507992"/>
            <a:ext cx="512064" cy="265176"/>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3429000" y="4297680"/>
            <a:ext cx="2331720" cy="420624"/>
          </a:xfrm>
          <a:prstGeom prst="roundRect">
            <a:avLst>
              <a:gd name="adj" fmla="val 18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Keep hard · 12 runs</a:t>
            </a:r>
          </a:p>
        </p:txBody>
      </p:sp>
      <p:cxnSp>
        <p:nvCxnSpPr>
          <p:cNvPr id="54" name="Connector 53"/>
          <p:cNvCxnSpPr/>
          <p:nvPr/>
        </p:nvCxnSpPr>
        <p:spPr>
          <a:xfrm>
            <a:off x="5760720" y="4507992"/>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263640" y="4334256"/>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90%</a:t>
            </a:r>
          </a:p>
        </p:txBody>
      </p:sp>
      <p:sp>
        <p:nvSpPr>
          <p:cNvPr id="56" name="Rounded Rectangle 55"/>
          <p:cNvSpPr/>
          <p:nvPr/>
        </p:nvSpPr>
        <p:spPr>
          <a:xfrm>
            <a:off x="7159752" y="4334256"/>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70%</a:t>
            </a:r>
          </a:p>
        </p:txBody>
      </p:sp>
      <p:sp>
        <p:nvSpPr>
          <p:cNvPr id="57" name="Rounded Rectangle 56"/>
          <p:cNvSpPr/>
          <p:nvPr/>
        </p:nvSpPr>
        <p:spPr>
          <a:xfrm>
            <a:off x="8055863" y="4334256"/>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50%</a:t>
            </a:r>
          </a:p>
        </p:txBody>
      </p:sp>
      <p:sp>
        <p:nvSpPr>
          <p:cNvPr id="58" name="Rounded Rectangle 57"/>
          <p:cNvSpPr/>
          <p:nvPr/>
        </p:nvSpPr>
        <p:spPr>
          <a:xfrm>
            <a:off x="8951976" y="4334256"/>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30%</a:t>
            </a:r>
          </a:p>
        </p:txBody>
      </p:sp>
      <p:sp>
        <p:nvSpPr>
          <p:cNvPr id="59" name="TextBox 58"/>
          <p:cNvSpPr txBox="1"/>
          <p:nvPr/>
        </p:nvSpPr>
        <p:spPr>
          <a:xfrm>
            <a:off x="9829800" y="4297680"/>
            <a:ext cx="1600200" cy="420624"/>
          </a:xfrm>
          <a:prstGeom prst="rect">
            <a:avLst/>
          </a:prstGeom>
          <a:noFill/>
        </p:spPr>
        <p:txBody>
          <a:bodyPr wrap="square" anchor="ctr">
            <a:spAutoFit/>
          </a:bodyPr>
          <a:lstStyle/>
          <a:p>
            <a:r>
              <a:rPr sz="1200" b="1">
                <a:solidFill>
                  <a:srgbClr val="1C5CAB"/>
                </a:solidFill>
                <a:latin typeface="Arial"/>
              </a:rPr>
              <a:t>4 × 3 seeds = 12</a:t>
            </a:r>
          </a:p>
        </p:txBody>
      </p:sp>
      <p:cxnSp>
        <p:nvCxnSpPr>
          <p:cNvPr id="60" name="Connector 59"/>
          <p:cNvCxnSpPr/>
          <p:nvPr/>
        </p:nvCxnSpPr>
        <p:spPr>
          <a:xfrm>
            <a:off x="2916936" y="4773168"/>
            <a:ext cx="512064" cy="265176"/>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3429000" y="4828032"/>
            <a:ext cx="2331720" cy="420624"/>
          </a:xfrm>
          <a:prstGeom prst="roundRect">
            <a:avLst>
              <a:gd name="adj" fmla="val 18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a:solidFill>
                  <a:srgbClr val="14213D"/>
                </a:solidFill>
                <a:latin typeface="Arial"/>
              </a:rPr>
              <a:t>Keep easy · 12 runs</a:t>
            </a:r>
          </a:p>
        </p:txBody>
      </p:sp>
      <p:cxnSp>
        <p:nvCxnSpPr>
          <p:cNvPr id="62" name="Connector 61"/>
          <p:cNvCxnSpPr/>
          <p:nvPr/>
        </p:nvCxnSpPr>
        <p:spPr>
          <a:xfrm>
            <a:off x="5760720" y="5038344"/>
            <a:ext cx="502920" cy="0"/>
          </a:xfrm>
          <a:prstGeom prst="bentConnector3">
            <a:avLst/>
          </a:prstGeom>
          <a:ln w="19050">
            <a:solidFill>
              <a:srgbClr val="8A94A0"/>
            </a:solidFill>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263640" y="4864608"/>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90%</a:t>
            </a:r>
          </a:p>
        </p:txBody>
      </p:sp>
      <p:sp>
        <p:nvSpPr>
          <p:cNvPr id="64" name="Rounded Rectangle 63"/>
          <p:cNvSpPr/>
          <p:nvPr/>
        </p:nvSpPr>
        <p:spPr>
          <a:xfrm>
            <a:off x="7159752" y="4864608"/>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70%</a:t>
            </a:r>
          </a:p>
        </p:txBody>
      </p:sp>
      <p:sp>
        <p:nvSpPr>
          <p:cNvPr id="65" name="Rounded Rectangle 64"/>
          <p:cNvSpPr/>
          <p:nvPr/>
        </p:nvSpPr>
        <p:spPr>
          <a:xfrm>
            <a:off x="8055863" y="4864608"/>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50%</a:t>
            </a:r>
          </a:p>
        </p:txBody>
      </p:sp>
      <p:sp>
        <p:nvSpPr>
          <p:cNvPr id="66" name="Rounded Rectangle 65"/>
          <p:cNvSpPr/>
          <p:nvPr/>
        </p:nvSpPr>
        <p:spPr>
          <a:xfrm>
            <a:off x="8951976" y="4864608"/>
            <a:ext cx="804672" cy="347472"/>
          </a:xfrm>
          <a:prstGeom prst="roundRect">
            <a:avLst>
              <a:gd name="adj" fmla="val 1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0">
                <a:solidFill>
                  <a:srgbClr val="14213D"/>
                </a:solidFill>
                <a:latin typeface="Arial"/>
              </a:rPr>
              <a:t>30%</a:t>
            </a:r>
          </a:p>
        </p:txBody>
      </p:sp>
      <p:sp>
        <p:nvSpPr>
          <p:cNvPr id="67" name="TextBox 66"/>
          <p:cNvSpPr txBox="1"/>
          <p:nvPr/>
        </p:nvSpPr>
        <p:spPr>
          <a:xfrm>
            <a:off x="9829800" y="4828032"/>
            <a:ext cx="1600200" cy="420624"/>
          </a:xfrm>
          <a:prstGeom prst="rect">
            <a:avLst/>
          </a:prstGeom>
          <a:noFill/>
        </p:spPr>
        <p:txBody>
          <a:bodyPr wrap="square" anchor="ctr">
            <a:spAutoFit/>
          </a:bodyPr>
          <a:lstStyle/>
          <a:p>
            <a:r>
              <a:rPr sz="1200" b="1">
                <a:solidFill>
                  <a:srgbClr val="1C5CAB"/>
                </a:solidFill>
                <a:latin typeface="Arial"/>
              </a:rPr>
              <a:t>4 × 3 seeds = 12</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HOW WE DID IT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How the scorer is trained</a:t>
            </a:r>
            <a:endParaRPr lang="en-US" sz="3200" dirty="0"/>
          </a:p>
        </p:txBody>
      </p:sp>
      <p:sp>
        <p:nvSpPr>
          <p:cNvPr id="4" name="Shape 2"/>
          <p:cNvSpPr/>
          <p:nvPr/>
        </p:nvSpPr>
        <p:spPr>
          <a:xfrm>
            <a:off x="812800" y="1828738"/>
            <a:ext cx="2260600" cy="1089554"/>
          </a:xfrm>
          <a:prstGeom prst="roundRect">
            <a:avLst>
              <a:gd name="adj" fmla="val 9325"/>
            </a:avLst>
          </a:prstGeom>
          <a:solidFill>
            <a:srgbClr val="E6EFFA"/>
          </a:solidFill>
          <a:ln/>
        </p:spPr>
        <p:txBody>
          <a:bodyPr/>
          <a:lstStyle/>
          <a:p>
            <a:endParaRPr/>
          </a:p>
        </p:txBody>
      </p:sp>
      <p:sp>
        <p:nvSpPr>
          <p:cNvPr id="5" name="Text 3"/>
          <p:cNvSpPr/>
          <p:nvPr/>
        </p:nvSpPr>
        <p:spPr>
          <a:xfrm>
            <a:off x="990600" y="2006538"/>
            <a:ext cx="196215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1 · Train</a:t>
            </a:r>
            <a:endParaRPr lang="en-US" sz="1600" dirty="0"/>
          </a:p>
        </p:txBody>
      </p:sp>
      <p:sp>
        <p:nvSpPr>
          <p:cNvPr id="6" name="Text 4"/>
          <p:cNvSpPr/>
          <p:nvPr/>
        </p:nvSpPr>
        <p:spPr>
          <a:xfrm>
            <a:off x="990600" y="2313856"/>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ResNet-18 on all 50,000 images, same recipe</a:t>
            </a:r>
            <a:endParaRPr lang="en-US" sz="1200" dirty="0"/>
          </a:p>
        </p:txBody>
      </p:sp>
      <p:pic>
        <p:nvPicPr>
          <p:cNvPr id="7" name="Image 0" descr="arrow-right"/>
          <p:cNvPicPr>
            <a:picLocks noChangeAspect="1"/>
          </p:cNvPicPr>
          <p:nvPr/>
        </p:nvPicPr>
        <p:blipFill>
          <a:blip r:embed="rId3"/>
          <a:srcRect/>
          <a:stretch/>
        </p:blipFill>
        <p:spPr>
          <a:xfrm>
            <a:off x="3200400" y="2259211"/>
            <a:ext cx="254000" cy="228600"/>
          </a:xfrm>
          <a:prstGeom prst="rect">
            <a:avLst/>
          </a:prstGeom>
        </p:spPr>
      </p:pic>
      <p:sp>
        <p:nvSpPr>
          <p:cNvPr id="8" name="Shape 5"/>
          <p:cNvSpPr/>
          <p:nvPr/>
        </p:nvSpPr>
        <p:spPr>
          <a:xfrm>
            <a:off x="3581400" y="1828738"/>
            <a:ext cx="2260600" cy="1089554"/>
          </a:xfrm>
          <a:prstGeom prst="roundRect">
            <a:avLst>
              <a:gd name="adj" fmla="val 9325"/>
            </a:avLst>
          </a:prstGeom>
          <a:solidFill>
            <a:srgbClr val="E6EFFA"/>
          </a:solidFill>
          <a:ln/>
        </p:spPr>
        <p:txBody>
          <a:bodyPr/>
          <a:lstStyle/>
          <a:p>
            <a:endParaRPr/>
          </a:p>
        </p:txBody>
      </p:sp>
      <p:sp>
        <p:nvSpPr>
          <p:cNvPr id="9" name="Text 6"/>
          <p:cNvSpPr/>
          <p:nvPr/>
        </p:nvSpPr>
        <p:spPr>
          <a:xfrm>
            <a:off x="3759200" y="2006538"/>
            <a:ext cx="196215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2 · Stop early</a:t>
            </a:r>
            <a:endParaRPr lang="en-US" sz="1600" dirty="0"/>
          </a:p>
        </p:txBody>
      </p:sp>
      <p:sp>
        <p:nvSpPr>
          <p:cNvPr id="10" name="Text 7"/>
          <p:cNvSpPr/>
          <p:nvPr/>
        </p:nvSpPr>
        <p:spPr>
          <a:xfrm>
            <a:off x="3759200" y="2313856"/>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Stop at epoch 20 out of 60 (84% right on test)</a:t>
            </a:r>
            <a:endParaRPr lang="en-US" sz="1200" dirty="0"/>
          </a:p>
        </p:txBody>
      </p:sp>
      <p:pic>
        <p:nvPicPr>
          <p:cNvPr id="11" name="Image 1" descr="arrow-right"/>
          <p:cNvPicPr>
            <a:picLocks noChangeAspect="1"/>
          </p:cNvPicPr>
          <p:nvPr/>
        </p:nvPicPr>
        <p:blipFill>
          <a:blip r:embed="rId3"/>
          <a:srcRect/>
          <a:stretch/>
        </p:blipFill>
        <p:spPr>
          <a:xfrm>
            <a:off x="5969000" y="2259211"/>
            <a:ext cx="254000" cy="228600"/>
          </a:xfrm>
          <a:prstGeom prst="rect">
            <a:avLst/>
          </a:prstGeom>
        </p:spPr>
      </p:pic>
      <p:sp>
        <p:nvSpPr>
          <p:cNvPr id="12" name="Shape 8"/>
          <p:cNvSpPr/>
          <p:nvPr/>
        </p:nvSpPr>
        <p:spPr>
          <a:xfrm>
            <a:off x="6350000" y="1828738"/>
            <a:ext cx="2260600" cy="1089554"/>
          </a:xfrm>
          <a:prstGeom prst="roundRect">
            <a:avLst>
              <a:gd name="adj" fmla="val 9325"/>
            </a:avLst>
          </a:prstGeom>
          <a:solidFill>
            <a:srgbClr val="E6EFFA"/>
          </a:solidFill>
          <a:ln/>
        </p:spPr>
        <p:txBody>
          <a:bodyPr/>
          <a:lstStyle/>
          <a:p>
            <a:endParaRPr/>
          </a:p>
        </p:txBody>
      </p:sp>
      <p:sp>
        <p:nvSpPr>
          <p:cNvPr id="13" name="Text 9"/>
          <p:cNvSpPr/>
          <p:nvPr/>
        </p:nvSpPr>
        <p:spPr>
          <a:xfrm>
            <a:off x="6527800" y="2006538"/>
            <a:ext cx="196215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3 · Score</a:t>
            </a:r>
            <a:endParaRPr lang="en-US" sz="1600" dirty="0"/>
          </a:p>
        </p:txBody>
      </p:sp>
      <p:sp>
        <p:nvSpPr>
          <p:cNvPr id="14" name="Text 10"/>
          <p:cNvSpPr/>
          <p:nvPr/>
        </p:nvSpPr>
        <p:spPr>
          <a:xfrm>
            <a:off x="6527800" y="2313856"/>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Give every original picture its EL2N score</a:t>
            </a:r>
            <a:endParaRPr lang="en-US" sz="1200" dirty="0"/>
          </a:p>
        </p:txBody>
      </p:sp>
      <p:pic>
        <p:nvPicPr>
          <p:cNvPr id="15" name="Image 2" descr="arrow-right"/>
          <p:cNvPicPr>
            <a:picLocks noChangeAspect="1"/>
          </p:cNvPicPr>
          <p:nvPr/>
        </p:nvPicPr>
        <p:blipFill>
          <a:blip r:embed="rId3"/>
          <a:srcRect/>
          <a:stretch/>
        </p:blipFill>
        <p:spPr>
          <a:xfrm>
            <a:off x="8737600" y="2259211"/>
            <a:ext cx="254000" cy="228600"/>
          </a:xfrm>
          <a:prstGeom prst="rect">
            <a:avLst/>
          </a:prstGeom>
        </p:spPr>
      </p:pic>
      <p:sp>
        <p:nvSpPr>
          <p:cNvPr id="16" name="Shape 11"/>
          <p:cNvSpPr/>
          <p:nvPr/>
        </p:nvSpPr>
        <p:spPr>
          <a:xfrm>
            <a:off x="9118600" y="1828738"/>
            <a:ext cx="2260600" cy="1089554"/>
          </a:xfrm>
          <a:prstGeom prst="roundRect">
            <a:avLst>
              <a:gd name="adj" fmla="val 9325"/>
            </a:avLst>
          </a:prstGeom>
          <a:solidFill>
            <a:srgbClr val="E6EFFA"/>
          </a:solidFill>
          <a:ln/>
        </p:spPr>
        <p:txBody>
          <a:bodyPr/>
          <a:lstStyle/>
          <a:p>
            <a:endParaRPr/>
          </a:p>
        </p:txBody>
      </p:sp>
      <p:sp>
        <p:nvSpPr>
          <p:cNvPr id="17" name="Text 12"/>
          <p:cNvSpPr/>
          <p:nvPr/>
        </p:nvSpPr>
        <p:spPr>
          <a:xfrm>
            <a:off x="9296400" y="2006538"/>
            <a:ext cx="196215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4 · Average</a:t>
            </a:r>
            <a:endParaRPr lang="en-US" sz="1600" dirty="0"/>
          </a:p>
        </p:txBody>
      </p:sp>
      <p:sp>
        <p:nvSpPr>
          <p:cNvPr id="18" name="Text 13"/>
          <p:cNvSpPr/>
          <p:nvPr/>
        </p:nvSpPr>
        <p:spPr>
          <a:xfrm>
            <a:off x="9296400" y="2313856"/>
            <a:ext cx="19621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Do it 3 times and average: one score per picture</a:t>
            </a:r>
            <a:endParaRPr lang="en-US" sz="1200" dirty="0"/>
          </a:p>
        </p:txBody>
      </p:sp>
      <p:sp>
        <p:nvSpPr>
          <p:cNvPr id="19" name="Shape 14"/>
          <p:cNvSpPr/>
          <p:nvPr/>
        </p:nvSpPr>
        <p:spPr>
          <a:xfrm>
            <a:off x="815975" y="3200871"/>
            <a:ext cx="3400028" cy="1391311"/>
          </a:xfrm>
          <a:prstGeom prst="roundRect">
            <a:avLst>
              <a:gd name="adj" fmla="val 7074"/>
            </a:avLst>
          </a:prstGeom>
          <a:solidFill>
            <a:srgbClr val="FFFFFF"/>
          </a:solidFill>
          <a:ln w="6350">
            <a:solidFill>
              <a:srgbClr val="DDE3EC"/>
            </a:solidFill>
            <a:prstDash val="solid"/>
          </a:ln>
        </p:spPr>
        <p:txBody>
          <a:bodyPr/>
          <a:lstStyle/>
          <a:p>
            <a:endParaRPr/>
          </a:p>
        </p:txBody>
      </p:sp>
      <p:sp>
        <p:nvSpPr>
          <p:cNvPr id="20" name="Text 15"/>
          <p:cNvSpPr/>
          <p:nvPr/>
        </p:nvSpPr>
        <p:spPr>
          <a:xfrm>
            <a:off x="1020233" y="3405125"/>
            <a:ext cx="30812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Why stop at epoch 20?</a:t>
            </a:r>
            <a:endParaRPr lang="en-US" sz="1600" dirty="0"/>
          </a:p>
        </p:txBody>
      </p:sp>
      <p:sp>
        <p:nvSpPr>
          <p:cNvPr id="21" name="Text 16"/>
          <p:cNvSpPr/>
          <p:nvPr/>
        </p:nvSpPr>
        <p:spPr>
          <a:xfrm>
            <a:off x="1020233" y="3725143"/>
            <a:ext cx="3081257"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Trained to the end, it remembers every training picture, so all scores become about 0. Early scores still tell easy from hard.</a:t>
            </a:r>
            <a:endParaRPr lang="en-US" sz="1200" dirty="0"/>
          </a:p>
        </p:txBody>
      </p:sp>
      <p:sp>
        <p:nvSpPr>
          <p:cNvPr id="22" name="Shape 17"/>
          <p:cNvSpPr/>
          <p:nvPr/>
        </p:nvSpPr>
        <p:spPr>
          <a:xfrm>
            <a:off x="4400153" y="3200871"/>
            <a:ext cx="3400094" cy="1391311"/>
          </a:xfrm>
          <a:prstGeom prst="roundRect">
            <a:avLst>
              <a:gd name="adj" fmla="val 7074"/>
            </a:avLst>
          </a:prstGeom>
          <a:solidFill>
            <a:srgbClr val="FFFFFF"/>
          </a:solidFill>
          <a:ln w="6350">
            <a:solidFill>
              <a:srgbClr val="DDE3EC"/>
            </a:solidFill>
            <a:prstDash val="solid"/>
          </a:ln>
        </p:spPr>
        <p:txBody>
          <a:bodyPr/>
          <a:lstStyle/>
          <a:p>
            <a:endParaRPr/>
          </a:p>
        </p:txBody>
      </p:sp>
      <p:sp>
        <p:nvSpPr>
          <p:cNvPr id="23" name="Text 18"/>
          <p:cNvSpPr/>
          <p:nvPr/>
        </p:nvSpPr>
        <p:spPr>
          <a:xfrm>
            <a:off x="4604412" y="3405125"/>
            <a:ext cx="308132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Why 3 scorers?</a:t>
            </a:r>
            <a:endParaRPr lang="en-US" sz="1600" dirty="0"/>
          </a:p>
        </p:txBody>
      </p:sp>
      <p:sp>
        <p:nvSpPr>
          <p:cNvPr id="24" name="Text 19"/>
          <p:cNvSpPr/>
          <p:nvPr/>
        </p:nvSpPr>
        <p:spPr>
          <a:xfrm>
            <a:off x="4604412" y="3725143"/>
            <a:ext cx="3081325"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One scorer’s scores depend on its random </a:t>
            </a:r>
            <a:r>
              <a:rPr lang="en-US" sz="1200" dirty="0" smtClean="0">
                <a:solidFill>
                  <a:srgbClr val="14213D"/>
                </a:solidFill>
                <a:latin typeface="Arial" pitchFamily="34" charset="0"/>
                <a:ea typeface="Arial" pitchFamily="34" charset="-122"/>
                <a:cs typeface="Arial" pitchFamily="34" charset="-120"/>
              </a:rPr>
              <a:t>seed. </a:t>
            </a:r>
            <a:r>
              <a:rPr lang="en-US" sz="1200" dirty="0">
                <a:solidFill>
                  <a:srgbClr val="14213D"/>
                </a:solidFill>
                <a:latin typeface="Arial" pitchFamily="34" charset="0"/>
                <a:ea typeface="Arial" pitchFamily="34" charset="-122"/>
                <a:cs typeface="Arial" pitchFamily="34" charset="-120"/>
              </a:rPr>
              <a:t>The average of 3 is more stable.</a:t>
            </a:r>
            <a:endParaRPr lang="en-US" sz="1200" dirty="0"/>
          </a:p>
        </p:txBody>
      </p:sp>
      <p:sp>
        <p:nvSpPr>
          <p:cNvPr id="25" name="Shape 20"/>
          <p:cNvSpPr/>
          <p:nvPr/>
        </p:nvSpPr>
        <p:spPr>
          <a:xfrm>
            <a:off x="7981223" y="3197696"/>
            <a:ext cx="3397978" cy="1397661"/>
          </a:xfrm>
          <a:prstGeom prst="roundRect">
            <a:avLst>
              <a:gd name="adj" fmla="val 7269"/>
            </a:avLst>
          </a:prstGeom>
          <a:solidFill>
            <a:srgbClr val="FBE7DD"/>
          </a:solidFill>
          <a:ln/>
        </p:spPr>
        <p:txBody>
          <a:bodyPr/>
          <a:lstStyle/>
          <a:p>
            <a:endParaRPr/>
          </a:p>
        </p:txBody>
      </p:sp>
      <p:sp>
        <p:nvSpPr>
          <p:cNvPr id="26" name="Text 21"/>
          <p:cNvSpPr/>
          <p:nvPr/>
        </p:nvSpPr>
        <p:spPr>
          <a:xfrm>
            <a:off x="8184423" y="3400896"/>
            <a:ext cx="308132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461A"/>
                </a:solidFill>
                <a:latin typeface="Arial" pitchFamily="34" charset="0"/>
                <a:ea typeface="Arial" pitchFamily="34" charset="-122"/>
                <a:cs typeface="Arial" pitchFamily="34" charset="-120"/>
              </a:rPr>
              <a:t>Cost</a:t>
            </a:r>
            <a:endParaRPr lang="en-US" sz="1600" dirty="0"/>
          </a:p>
        </p:txBody>
      </p:sp>
      <p:sp>
        <p:nvSpPr>
          <p:cNvPr id="27" name="Text 22"/>
          <p:cNvSpPr/>
          <p:nvPr/>
        </p:nvSpPr>
        <p:spPr>
          <a:xfrm>
            <a:off x="8184423" y="3720902"/>
            <a:ext cx="3081325"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3 runs × 20 epochs ≈ one full training run, plus a little extra: </a:t>
            </a:r>
            <a:r>
              <a:rPr lang="en-US" sz="1200" b="1" dirty="0">
                <a:solidFill>
                  <a:srgbClr val="14213D"/>
                </a:solidFill>
                <a:latin typeface="Arial" pitchFamily="34" charset="0"/>
                <a:ea typeface="Arial" pitchFamily="34" charset="-122"/>
                <a:cs typeface="Arial" pitchFamily="34" charset="-120"/>
              </a:rPr>
              <a:t>S = 1.16 F</a:t>
            </a:r>
            <a:r>
              <a:rPr lang="en-US" sz="1200" dirty="0">
                <a:solidFill>
                  <a:srgbClr val="14213D"/>
                </a:solidFill>
                <a:latin typeface="Arial" pitchFamily="34" charset="0"/>
                <a:ea typeface="Arial" pitchFamily="34" charset="-122"/>
                <a:cs typeface="Arial" pitchFamily="34" charset="-120"/>
              </a:rPr>
              <a:t>.</a:t>
            </a:r>
            <a:endParaRPr lang="en-US" sz="1200" dirty="0"/>
          </a:p>
        </p:txBody>
      </p:sp>
      <p:sp>
        <p:nvSpPr>
          <p:cNvPr id="28" name="Text 23"/>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9" name="Text 24"/>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10</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2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RESULTS</a:t>
            </a:r>
            <a:endParaRPr lang="en-US" sz="1200" dirty="0"/>
          </a:p>
        </p:txBody>
      </p:sp>
      <p:sp>
        <p:nvSpPr>
          <p:cNvPr id="3" name="Text 1"/>
          <p:cNvSpPr>
            <a:spLocks noGrp="1"/>
          </p:cNvSpPr>
          <p:nvPr>
            <p:ph type="title"/>
          </p:nvPr>
        </p:nvSpPr>
        <p:spPr>
          <a:xfrm>
            <a:off x="812800" y="1102320"/>
            <a:ext cx="11379200"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Baselines: full data, random, and training shorter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3442147221"/>
              </p:ext>
            </p:extLst>
          </p:nvPr>
        </p:nvGraphicFramePr>
        <p:xfrm>
          <a:off x="715334" y="1822386"/>
          <a:ext cx="10553700" cy="1447800"/>
        </p:xfrm>
        <a:graphic>
          <a:graphicData uri="http://schemas.openxmlformats.org/drawingml/2006/table">
            <a:tbl>
              <a:tblPr/>
              <a:tblGrid>
                <a:gridCol w="3166110">
                  <a:extLst>
                    <a:ext uri="{9D8B030D-6E8A-4147-A177-3AD203B41FA5}">
                      <a16:colId xmlns:a16="http://schemas.microsoft.com/office/drawing/2014/main" val="20000"/>
                    </a:ext>
                  </a:extLst>
                </a:gridCol>
                <a:gridCol w="1477518">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gridCol w="1477518">
                  <a:extLst>
                    <a:ext uri="{9D8B030D-6E8A-4147-A177-3AD203B41FA5}">
                      <a16:colId xmlns:a16="http://schemas.microsoft.com/office/drawing/2014/main" val="20005"/>
                    </a:ext>
                  </a:extLst>
                </a:gridCol>
              </a:tblGrid>
              <a:tr h="482600">
                <a:tc>
                  <a:txBody>
                    <a:bodyPr/>
                    <a:lstStyle/>
                    <a:p>
                      <a:pPr marL="0" indent="0">
                        <a:lnSpc>
                          <a:spcPts val="2100"/>
                        </a:lnSpc>
                        <a:buNone/>
                      </a:pPr>
                      <a:r>
                        <a:rPr lang="en-US" sz="1500" b="1" dirty="0" smtClean="0">
                          <a:solidFill>
                            <a:srgbClr val="FBFBF8"/>
                          </a:solidFill>
                          <a:latin typeface="Arial" pitchFamily="34" charset="0"/>
                          <a:ea typeface="Arial" pitchFamily="34" charset="-122"/>
                          <a:cs typeface="Arial" pitchFamily="34" charset="-120"/>
                        </a:rPr>
                        <a:t>Percentage</a:t>
                      </a:r>
                      <a:r>
                        <a:rPr lang="en-US" sz="1500" b="1" baseline="0" dirty="0" smtClean="0">
                          <a:solidFill>
                            <a:srgbClr val="FBFBF8"/>
                          </a:solidFill>
                          <a:latin typeface="Arial" pitchFamily="34" charset="0"/>
                          <a:ea typeface="Arial" pitchFamily="34" charset="-122"/>
                          <a:cs typeface="Arial" pitchFamily="34" charset="-120"/>
                        </a:rPr>
                        <a:t> data kept</a:t>
                      </a:r>
                      <a:r>
                        <a:rPr lang="en-US" sz="1500" b="1" dirty="0" smtClean="0">
                          <a:solidFill>
                            <a:srgbClr val="FBFBF8"/>
                          </a:solidFill>
                          <a:latin typeface="Arial" pitchFamily="34" charset="0"/>
                          <a:ea typeface="Arial" pitchFamily="34" charset="-122"/>
                          <a:cs typeface="Arial" pitchFamily="34" charset="-120"/>
                        </a:rPr>
                        <a:t> </a:t>
                      </a:r>
                      <a:r>
                        <a:rPr lang="en-US" sz="1500" b="1" dirty="0">
                          <a:solidFill>
                            <a:srgbClr val="FBFBF8"/>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BFBF8"/>
                          </a:solidFill>
                          <a:latin typeface="Arial" pitchFamily="34" charset="0"/>
                          <a:ea typeface="Arial" pitchFamily="34" charset="-122"/>
                          <a:cs typeface="Arial" pitchFamily="34" charset="-120"/>
                        </a:rPr>
                        <a:t>100%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BFBF8"/>
                          </a:solidFill>
                          <a:latin typeface="Arial" pitchFamily="34" charset="0"/>
                          <a:ea typeface="Arial" pitchFamily="34" charset="-122"/>
                          <a:cs typeface="Arial" pitchFamily="34" charset="-120"/>
                        </a:rPr>
                        <a:t>90%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BFBF8"/>
                          </a:solidFill>
                          <a:latin typeface="Arial" pitchFamily="34" charset="0"/>
                          <a:ea typeface="Arial" pitchFamily="34" charset="-122"/>
                          <a:cs typeface="Arial" pitchFamily="34" charset="-120"/>
                        </a:rPr>
                        <a:t>70%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smtClean="0">
                          <a:solidFill>
                            <a:srgbClr val="FBFBF8"/>
                          </a:solidFill>
                          <a:latin typeface="Arial" pitchFamily="34" charset="0"/>
                          <a:ea typeface="Arial" pitchFamily="34" charset="-122"/>
                          <a:cs typeface="Arial" pitchFamily="34" charset="-120"/>
                        </a:rPr>
                        <a:t>50%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BFBF8"/>
                          </a:solidFill>
                          <a:latin typeface="Arial" pitchFamily="34" charset="0"/>
                          <a:ea typeface="Arial" pitchFamily="34" charset="-122"/>
                          <a:cs typeface="Arial" pitchFamily="34" charset="-120"/>
                        </a:rPr>
                        <a:t>30%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8260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Full data</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94.32</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8260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Random subset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93.84</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92.94</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90.97</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86.42</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900382" y="5531603"/>
            <a:ext cx="10883392"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Columns = how much of the full training time is used. “Fewer epochs” trains on all 50,000 pictures for 54 / 42 / 30 / 18 epochs. Average of 3 runs.</a:t>
            </a:r>
            <a:endParaRPr lang="en-US" sz="1200" dirty="0"/>
          </a:p>
        </p:txBody>
      </p:sp>
      <p:sp>
        <p:nvSpPr>
          <p:cNvPr id="6" name="Text 3"/>
          <p:cNvSpPr/>
          <p:nvPr/>
        </p:nvSpPr>
        <p:spPr>
          <a:xfrm>
            <a:off x="812800" y="5920843"/>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461A"/>
                </a:solidFill>
                <a:latin typeface="Arial" pitchFamily="34" charset="0"/>
                <a:ea typeface="Arial" pitchFamily="34" charset="-122"/>
                <a:cs typeface="Arial" pitchFamily="34" charset="-120"/>
              </a:rPr>
              <a:t>Surprise:</a:t>
            </a:r>
            <a:r>
              <a:rPr lang="en-US" sz="1600" dirty="0">
                <a:solidFill>
                  <a:srgbClr val="14213D"/>
                </a:solidFill>
                <a:latin typeface="Arial" pitchFamily="34" charset="0"/>
                <a:ea typeface="Arial" pitchFamily="34" charset="-122"/>
                <a:cs typeface="Arial" pitchFamily="34" charset="-120"/>
              </a:rPr>
              <a:t> using all the data for fewer epochs beats random picking every time.</a:t>
            </a:r>
            <a:endParaRPr lang="en-US" sz="1600" dirty="0"/>
          </a:p>
        </p:txBody>
      </p:sp>
      <p:sp>
        <p:nvSpPr>
          <p:cNvPr id="7" name="Text 4"/>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8" name="Text 5"/>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11</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2795808744"/>
              </p:ext>
            </p:extLst>
          </p:nvPr>
        </p:nvGraphicFramePr>
        <p:xfrm>
          <a:off x="715334" y="4166558"/>
          <a:ext cx="10553700" cy="1067218"/>
        </p:xfrm>
        <a:graphic>
          <a:graphicData uri="http://schemas.openxmlformats.org/drawingml/2006/table">
            <a:tbl>
              <a:tblPr/>
              <a:tblGrid>
                <a:gridCol w="3166110">
                  <a:extLst>
                    <a:ext uri="{9D8B030D-6E8A-4147-A177-3AD203B41FA5}">
                      <a16:colId xmlns:a16="http://schemas.microsoft.com/office/drawing/2014/main" val="20000"/>
                    </a:ext>
                  </a:extLst>
                </a:gridCol>
                <a:gridCol w="1477518">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gridCol w="1477518">
                  <a:extLst>
                    <a:ext uri="{9D8B030D-6E8A-4147-A177-3AD203B41FA5}">
                      <a16:colId xmlns:a16="http://schemas.microsoft.com/office/drawing/2014/main" val="20005"/>
                    </a:ext>
                  </a:extLst>
                </a:gridCol>
              </a:tblGrid>
              <a:tr h="584618">
                <a:tc>
                  <a:txBody>
                    <a:bodyPr/>
                    <a:lstStyle/>
                    <a:p>
                      <a:pPr marL="0" indent="0">
                        <a:lnSpc>
                          <a:spcPts val="2100"/>
                        </a:lnSpc>
                        <a:buNone/>
                      </a:pPr>
                      <a:r>
                        <a:rPr lang="en-US" sz="1500" b="1" dirty="0" smtClean="0">
                          <a:solidFill>
                            <a:srgbClr val="FBFBF8"/>
                          </a:solidFill>
                          <a:latin typeface="Arial" pitchFamily="34" charset="0"/>
                          <a:ea typeface="Arial" pitchFamily="34" charset="-122"/>
                          <a:cs typeface="Arial" pitchFamily="34" charset="-120"/>
                        </a:rPr>
                        <a:t>Epochs </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IN" sz="1500" b="1" dirty="0" smtClean="0">
                          <a:solidFill>
                            <a:srgbClr val="FBFBF8"/>
                          </a:solidFill>
                          <a:latin typeface="Arial" pitchFamily="34" charset="0"/>
                          <a:ea typeface="Arial" charset="0"/>
                          <a:cs typeface="Arial" pitchFamily="34" charset="-120"/>
                        </a:rPr>
                        <a:t>60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IN" sz="1500" b="1" dirty="0" smtClean="0">
                          <a:solidFill>
                            <a:srgbClr val="FBFBF8"/>
                          </a:solidFill>
                          <a:latin typeface="Arial" pitchFamily="34" charset="0"/>
                          <a:ea typeface="Arial" charset="0"/>
                          <a:cs typeface="Arial" pitchFamily="34" charset="-120"/>
                        </a:rPr>
                        <a:t>54</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IN" sz="1500" b="1" dirty="0" smtClean="0">
                          <a:solidFill>
                            <a:srgbClr val="FBFBF8"/>
                          </a:solidFill>
                          <a:latin typeface="Arial" pitchFamily="34" charset="0"/>
                          <a:ea typeface="Arial" charset="0"/>
                          <a:cs typeface="Arial" pitchFamily="34" charset="-120"/>
                        </a:rPr>
                        <a:t>42</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IN" sz="1500" b="1" dirty="0" smtClean="0">
                          <a:solidFill>
                            <a:srgbClr val="FBFBF8"/>
                          </a:solidFill>
                          <a:latin typeface="Arial" pitchFamily="34" charset="0"/>
                          <a:ea typeface="Arial" charset="0"/>
                          <a:cs typeface="Arial" pitchFamily="34" charset="-120"/>
                        </a:rPr>
                        <a:t>30</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IN" sz="1500" b="1" dirty="0" smtClean="0">
                          <a:solidFill>
                            <a:srgbClr val="FBFBF8"/>
                          </a:solidFill>
                          <a:latin typeface="Arial" pitchFamily="34" charset="0"/>
                          <a:ea typeface="Arial" charset="0"/>
                          <a:cs typeface="Arial" pitchFamily="34" charset="-120"/>
                        </a:rPr>
                        <a:t>18</a:t>
                      </a:r>
                      <a:endParaRPr lang="en-US" sz="1500" dirty="0">
                        <a:latin typeface="Arial" charset="0"/>
                        <a:ea typeface="Arial" charset="0"/>
                        <a:cs typeface="Arial" charset="0"/>
                      </a:endParaRPr>
                    </a:p>
                  </a:txBody>
                  <a:tcPr marL="127000" marR="127000" marT="101600" marB="1016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8260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All data, fewer epochs</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5B647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94.22</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93.99</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92.92</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91.29</a:t>
                      </a:r>
                      <a:endParaRPr lang="en-US" sz="1500" dirty="0">
                        <a:latin typeface="Arial" charset="0"/>
                        <a:ea typeface="Arial" charset="0"/>
                        <a:cs typeface="Arial" charset="0"/>
                      </a:endParaRPr>
                    </a:p>
                  </a:txBody>
                  <a:tcPr marL="127000" marR="127000" marT="101600" marB="1016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2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7662"/>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8461A"/>
                </a:solidFill>
                <a:latin typeface="Arial" pitchFamily="34" charset="0"/>
                <a:ea typeface="Arial" pitchFamily="34" charset="-122"/>
                <a:cs typeface="Arial" pitchFamily="34" charset="-120"/>
              </a:rPr>
              <a:t>RESULTS</a:t>
            </a:r>
            <a:endParaRPr lang="en-US" sz="1196" dirty="0"/>
          </a:p>
        </p:txBody>
      </p:sp>
      <p:sp>
        <p:nvSpPr>
          <p:cNvPr id="3" name="Text 1"/>
          <p:cNvSpPr>
            <a:spLocks noGrp="1"/>
          </p:cNvSpPr>
          <p:nvPr>
            <p:ph type="title"/>
          </p:nvPr>
        </p:nvSpPr>
        <p:spPr>
          <a:xfrm>
            <a:off x="812800" y="1101266"/>
            <a:ext cx="10883392" cy="47023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The gap grows as the budget shrinks</a:t>
            </a:r>
            <a:endParaRPr lang="en-US" sz="3200" dirty="0"/>
          </a:p>
        </p:txBody>
      </p:sp>
      <p:sp>
        <p:nvSpPr>
          <p:cNvPr id="4" name="Shape 2"/>
          <p:cNvSpPr/>
          <p:nvPr/>
        </p:nvSpPr>
        <p:spPr>
          <a:xfrm>
            <a:off x="815975" y="1768946"/>
            <a:ext cx="6110817" cy="4078817"/>
          </a:xfrm>
          <a:prstGeom prst="roundRect">
            <a:avLst>
              <a:gd name="adj" fmla="val 2413"/>
            </a:avLst>
          </a:prstGeom>
          <a:solidFill>
            <a:srgbClr val="FFFFFF"/>
          </a:solidFill>
          <a:ln w="6350">
            <a:solidFill>
              <a:srgbClr val="DDE3EC"/>
            </a:solidFill>
            <a:prstDash val="solid"/>
          </a:ln>
        </p:spPr>
        <p:txBody>
          <a:bodyPr/>
          <a:lstStyle/>
          <a:p>
            <a:endParaRPr/>
          </a:p>
        </p:txBody>
      </p:sp>
      <p:pic>
        <p:nvPicPr>
          <p:cNvPr id="5" name="Image 0" descr="CIFAR-10 baselines: accuracy against budget for full data, random subsets and shorter training"/>
          <p:cNvPicPr>
            <a:picLocks noChangeAspect="1"/>
          </p:cNvPicPr>
          <p:nvPr/>
        </p:nvPicPr>
        <p:blipFill>
          <a:blip r:embed="rId3"/>
          <a:srcRect l="-26" r="-26"/>
          <a:stretch/>
        </p:blipFill>
        <p:spPr>
          <a:xfrm>
            <a:off x="918633" y="1871600"/>
            <a:ext cx="5905500" cy="3873500"/>
          </a:xfrm>
          <a:prstGeom prst="rect">
            <a:avLst/>
          </a:prstGeom>
        </p:spPr>
      </p:pic>
      <p:sp>
        <p:nvSpPr>
          <p:cNvPr id="6" name="Text 3"/>
          <p:cNvSpPr/>
          <p:nvPr/>
        </p:nvSpPr>
        <p:spPr>
          <a:xfrm>
            <a:off x="7234767" y="2643783"/>
            <a:ext cx="426876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FAE"/>
                </a:solidFill>
                <a:latin typeface="Georgia" pitchFamily="18" charset="0"/>
                <a:ea typeface="Georgia" pitchFamily="18" charset="-122"/>
                <a:cs typeface="Georgia" pitchFamily="18" charset="-120"/>
              </a:rPr>
              <a:t>−0.5</a:t>
            </a:r>
            <a:endParaRPr lang="en-US" sz="3200" dirty="0"/>
          </a:p>
        </p:txBody>
      </p:sp>
      <p:sp>
        <p:nvSpPr>
          <p:cNvPr id="7" name="Text 4"/>
          <p:cNvSpPr/>
          <p:nvPr/>
        </p:nvSpPr>
        <p:spPr>
          <a:xfrm>
            <a:off x="7234767" y="3088283"/>
            <a:ext cx="4268766" cy="38404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points: random 90% gets 93.84 (94.32 − 93.84)</a:t>
            </a:r>
            <a:endParaRPr lang="en-US" sz="1200" dirty="0"/>
          </a:p>
        </p:txBody>
      </p:sp>
      <p:sp>
        <p:nvSpPr>
          <p:cNvPr id="8" name="Text 5"/>
          <p:cNvSpPr/>
          <p:nvPr/>
        </p:nvSpPr>
        <p:spPr>
          <a:xfrm>
            <a:off x="7234767" y="3479403"/>
            <a:ext cx="426876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8461A"/>
                </a:solidFill>
                <a:latin typeface="Georgia" pitchFamily="18" charset="0"/>
                <a:ea typeface="Georgia" pitchFamily="18" charset="-122"/>
                <a:cs typeface="Georgia" pitchFamily="18" charset="-120"/>
              </a:rPr>
              <a:t>−7.9</a:t>
            </a:r>
            <a:endParaRPr lang="en-US" sz="3200" dirty="0"/>
          </a:p>
        </p:txBody>
      </p:sp>
      <p:sp>
        <p:nvSpPr>
          <p:cNvPr id="9" name="Text 6"/>
          <p:cNvSpPr/>
          <p:nvPr/>
        </p:nvSpPr>
        <p:spPr>
          <a:xfrm>
            <a:off x="7234767" y="3923903"/>
            <a:ext cx="4268766" cy="38404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points: random 30% gets 86.42 (94.32 − 86.42)</a:t>
            </a:r>
            <a:endParaRPr lang="en-US" sz="1200" dirty="0"/>
          </a:p>
        </p:txBody>
      </p:sp>
      <p:sp>
        <p:nvSpPr>
          <p:cNvPr id="10" name="Text 7"/>
          <p:cNvSpPr/>
          <p:nvPr/>
        </p:nvSpPr>
        <p:spPr>
          <a:xfrm>
            <a:off x="7234767" y="4315023"/>
            <a:ext cx="426876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213D"/>
                </a:solidFill>
                <a:latin typeface="Georgia" pitchFamily="18" charset="0"/>
                <a:ea typeface="Georgia" pitchFamily="18" charset="-122"/>
                <a:cs typeface="Georgia" pitchFamily="18" charset="-120"/>
              </a:rPr>
              <a:t>−3.0</a:t>
            </a:r>
            <a:endParaRPr lang="en-US" sz="3200" dirty="0"/>
          </a:p>
        </p:txBody>
      </p:sp>
      <p:sp>
        <p:nvSpPr>
          <p:cNvPr id="11" name="Text 8"/>
          <p:cNvSpPr/>
          <p:nvPr/>
        </p:nvSpPr>
        <p:spPr>
          <a:xfrm>
            <a:off x="7234767" y="4759523"/>
            <a:ext cx="4268766" cy="384048"/>
          </a:xfrm>
          <a:prstGeom prst="rect">
            <a:avLst/>
          </a:prstGeom>
          <a:noFill/>
          <a:ln/>
        </p:spPr>
        <p:txBody>
          <a:bodyPr wrap="square" lIns="0" tIns="0" rIns="0" bIns="0" rtlCol="0" anchor="t">
            <a:normAutofit fontScale="70000" lnSpcReduction="20000"/>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points: all data for 18 epochs gets 91.29 (94.32 − 91.29), the same time as keeping 30%</a:t>
            </a:r>
            <a:endParaRPr lang="en-US" sz="1200" dirty="0"/>
          </a:p>
        </p:txBody>
      </p:sp>
      <p:sp>
        <p:nvSpPr>
          <p:cNvPr id="12" name="Text 9"/>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3" name="Text 10"/>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12</a:t>
            </a:r>
            <a:endParaRPr lang="en-US" sz="1200" dirty="0"/>
          </a:p>
        </p:txBody>
      </p:sp>
      <p:sp>
        <p:nvSpPr>
          <p:cNvPr id="14" name="Text 4"/>
          <p:cNvSpPr/>
          <p:nvPr/>
        </p:nvSpPr>
        <p:spPr>
          <a:xfrm>
            <a:off x="7232904" y="2212848"/>
            <a:ext cx="4270248" cy="2743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Drop in accuracy compared with all data (94.32%):</a:t>
            </a:r>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Keeping hard images beats random, until 30%</a:t>
            </a:r>
            <a:endParaRPr lang="en-US" sz="3200" dirty="0"/>
          </a:p>
        </p:txBody>
      </p:sp>
      <p:sp>
        <p:nvSpPr>
          <p:cNvPr id="4" name="Shape 2"/>
          <p:cNvSpPr/>
          <p:nvPr/>
        </p:nvSpPr>
        <p:spPr>
          <a:xfrm>
            <a:off x="815975" y="1781113"/>
            <a:ext cx="5793317" cy="3869267"/>
          </a:xfrm>
          <a:prstGeom prst="roundRect">
            <a:avLst>
              <a:gd name="adj" fmla="val 2544"/>
            </a:avLst>
          </a:prstGeom>
          <a:solidFill>
            <a:srgbClr val="FFFFFF"/>
          </a:solidFill>
          <a:ln w="6350">
            <a:solidFill>
              <a:srgbClr val="DDE3EC"/>
            </a:solidFill>
            <a:prstDash val="solid"/>
          </a:ln>
        </p:spPr>
        <p:txBody>
          <a:bodyPr/>
          <a:lstStyle/>
          <a:p>
            <a:endParaRPr/>
          </a:p>
        </p:txBody>
      </p:sp>
      <p:pic>
        <p:nvPicPr>
          <p:cNvPr id="5" name="Image 0" descr="Keep-hard, keep-easy and random subsets by EL2N from ResNet-18 at epoch 20"/>
          <p:cNvPicPr>
            <a:picLocks noChangeAspect="1"/>
          </p:cNvPicPr>
          <p:nvPr/>
        </p:nvPicPr>
        <p:blipFill>
          <a:blip r:embed="rId3"/>
          <a:srcRect l="-43" r="-43"/>
          <a:stretch/>
        </p:blipFill>
        <p:spPr>
          <a:xfrm>
            <a:off x="918633" y="1883767"/>
            <a:ext cx="5588000" cy="366395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2464964857"/>
              </p:ext>
            </p:extLst>
          </p:nvPr>
        </p:nvGraphicFramePr>
        <p:xfrm>
          <a:off x="7388126" y="2313719"/>
          <a:ext cx="3191256" cy="2070035"/>
        </p:xfrm>
        <a:graphic>
          <a:graphicData uri="http://schemas.openxmlformats.org/drawingml/2006/table">
            <a:tbl>
              <a:tblPr/>
              <a:tblGrid>
                <a:gridCol w="886460">
                  <a:extLst>
                    <a:ext uri="{9D8B030D-6E8A-4147-A177-3AD203B41FA5}">
                      <a16:colId xmlns:a16="http://schemas.microsoft.com/office/drawing/2014/main" val="20000"/>
                    </a:ext>
                  </a:extLst>
                </a:gridCol>
                <a:gridCol w="1108075">
                  <a:extLst>
                    <a:ext uri="{9D8B030D-6E8A-4147-A177-3AD203B41FA5}">
                      <a16:colId xmlns:a16="http://schemas.microsoft.com/office/drawing/2014/main" val="20001"/>
                    </a:ext>
                  </a:extLst>
                </a:gridCol>
                <a:gridCol w="1196721">
                  <a:extLst>
                    <a:ext uri="{9D8B030D-6E8A-4147-A177-3AD203B41FA5}">
                      <a16:colId xmlns:a16="http://schemas.microsoft.com/office/drawing/2014/main" val="20002"/>
                    </a:ext>
                  </a:extLst>
                </a:gridCol>
              </a:tblGrid>
              <a:tr h="414007">
                <a:tc>
                  <a:txBody>
                    <a:bodyPr/>
                    <a:lstStyle/>
                    <a:p>
                      <a:pPr marL="0" indent="0">
                        <a:lnSpc>
                          <a:spcPts val="1960"/>
                        </a:lnSpc>
                        <a:buNone/>
                      </a:pPr>
                      <a:r>
                        <a:rPr lang="en-US" sz="1400" b="1" dirty="0">
                          <a:solidFill>
                            <a:srgbClr val="FBFBF8"/>
                          </a:solidFill>
                          <a:latin typeface="Arial" pitchFamily="34" charset="0"/>
                          <a:ea typeface="Arial" pitchFamily="34" charset="-122"/>
                          <a:cs typeface="Arial" pitchFamily="34" charset="-120"/>
                        </a:rPr>
                        <a:t>Kept</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BFBF8"/>
                          </a:solidFill>
                          <a:latin typeface="Arial" pitchFamily="34" charset="0"/>
                          <a:ea typeface="Arial" pitchFamily="34" charset="-122"/>
                          <a:cs typeface="Arial" pitchFamily="34" charset="-120"/>
                        </a:rPr>
                        <a:t>Hard</a:t>
                      </a:r>
                      <a:endParaRPr lang="en-US" sz="1400" dirty="0">
                        <a:latin typeface="Arial" charset="0"/>
                        <a:ea typeface="Arial" charset="0"/>
                        <a:cs typeface="Arial" charset="0"/>
                      </a:endParaRPr>
                    </a:p>
                  </a:txBody>
                  <a:tcPr marL="88900" marR="88900" marT="76200" marB="762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BFBF8"/>
                          </a:solidFill>
                          <a:latin typeface="Arial" pitchFamily="34" charset="0"/>
                          <a:ea typeface="Arial" pitchFamily="34" charset="-122"/>
                          <a:cs typeface="Arial" pitchFamily="34" charset="-120"/>
                        </a:rPr>
                        <a:t>Random</a:t>
                      </a:r>
                      <a:endParaRPr lang="en-US" sz="1400" dirty="0">
                        <a:latin typeface="Arial" charset="0"/>
                        <a:ea typeface="Arial" charset="0"/>
                        <a:cs typeface="Arial" charset="0"/>
                      </a:endParaRPr>
                    </a:p>
                  </a:txBody>
                  <a:tcPr marL="88900" marR="88900" marT="76200" marB="762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40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90%</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F5FAE"/>
                          </a:solidFill>
                          <a:latin typeface="Arial" pitchFamily="34" charset="0"/>
                          <a:ea typeface="Arial" pitchFamily="34" charset="-122"/>
                          <a:cs typeface="Arial" pitchFamily="34" charset="-120"/>
                        </a:rPr>
                        <a:t>94.16</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93.84</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140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70%</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F5FAE"/>
                          </a:solidFill>
                          <a:latin typeface="Arial" pitchFamily="34" charset="0"/>
                          <a:ea typeface="Arial" pitchFamily="34" charset="-122"/>
                          <a:cs typeface="Arial" pitchFamily="34" charset="-120"/>
                        </a:rPr>
                        <a:t>94.09</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92.94</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4140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F5FAE"/>
                          </a:solidFill>
                          <a:latin typeface="Arial" pitchFamily="34" charset="0"/>
                          <a:ea typeface="Arial" pitchFamily="34" charset="-122"/>
                          <a:cs typeface="Arial" pitchFamily="34" charset="-120"/>
                        </a:rPr>
                        <a:t>92.63</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90.97</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4140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B8461A"/>
                          </a:solidFill>
                          <a:latin typeface="Arial" pitchFamily="34" charset="0"/>
                          <a:ea typeface="Arial" pitchFamily="34" charset="-122"/>
                          <a:cs typeface="Arial" pitchFamily="34" charset="-120"/>
                        </a:rPr>
                        <a:t>80.15</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86.42</a:t>
                      </a:r>
                      <a:endParaRPr lang="en-US" sz="1400" dirty="0">
                        <a:latin typeface="Arial" charset="0"/>
                        <a:ea typeface="Arial" charset="0"/>
                        <a:cs typeface="Arial" charset="0"/>
                      </a:endParaRPr>
                    </a:p>
                  </a:txBody>
                  <a:tcPr marL="88900" marR="88900" marT="76200" marB="762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6866467" y="4536157"/>
            <a:ext cx="4648115"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Hard 70% is only 0.23 below full data (94.32).</a:t>
            </a:r>
            <a:endParaRPr lang="en-US" sz="1200" dirty="0"/>
          </a:p>
        </p:txBody>
      </p:sp>
      <p:sp>
        <p:nvSpPr>
          <p:cNvPr id="8" name="Text 4"/>
          <p:cNvSpPr/>
          <p:nvPr/>
        </p:nvSpPr>
        <p:spPr>
          <a:xfrm>
            <a:off x="6866467" y="4909480"/>
            <a:ext cx="4648115"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Arial" pitchFamily="34" charset="0"/>
                <a:ea typeface="Arial" pitchFamily="34" charset="-122"/>
                <a:cs typeface="Arial" pitchFamily="34" charset="-120"/>
              </a:rPr>
              <a:t>Keep-easy is worst </a:t>
            </a:r>
            <a:r>
              <a:rPr lang="en-US" sz="1200" dirty="0" smtClean="0">
                <a:solidFill>
                  <a:srgbClr val="14213D"/>
                </a:solidFill>
                <a:latin typeface="Arial" pitchFamily="34" charset="0"/>
                <a:ea typeface="Arial" pitchFamily="34" charset="-122"/>
                <a:cs typeface="Arial" pitchFamily="34" charset="-120"/>
              </a:rPr>
              <a:t>at every % of training data kept.</a:t>
            </a:r>
            <a:endParaRPr lang="en-US" sz="1200" dirty="0"/>
          </a:p>
        </p:txBody>
      </p:sp>
      <p:sp>
        <p:nvSpPr>
          <p:cNvPr id="9" name="Text 5"/>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0" name="Text 6"/>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13</a:t>
            </a:r>
            <a:endParaRPr lang="en-US" sz="1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2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942"/>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8461A"/>
                </a:solidFill>
                <a:latin typeface="Arial" pitchFamily="34" charset="0"/>
                <a:ea typeface="Arial" pitchFamily="34" charset="-122"/>
                <a:cs typeface="Arial" pitchFamily="34" charset="-120"/>
              </a:rPr>
              <a:t>RESULTS</a:t>
            </a:r>
            <a:endParaRPr lang="en-US" sz="1196" dirty="0"/>
          </a:p>
        </p:txBody>
      </p:sp>
      <p:sp>
        <p:nvSpPr>
          <p:cNvPr id="3" name="Text 1"/>
          <p:cNvSpPr>
            <a:spLocks noGrp="1"/>
          </p:cNvSpPr>
          <p:nvPr>
            <p:ph type="title"/>
          </p:nvPr>
        </p:nvSpPr>
        <p:spPr>
          <a:xfrm>
            <a:off x="812800" y="1099542"/>
            <a:ext cx="10883392" cy="466527"/>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4213D"/>
                </a:solidFill>
                <a:latin typeface="Georgia" pitchFamily="18" charset="0"/>
                <a:ea typeface="Georgia" pitchFamily="18" charset="-122"/>
                <a:cs typeface="Georgia" pitchFamily="18" charset="-120"/>
              </a:rPr>
              <a:t>Why 30% fails: the hardest images are messy</a:t>
            </a:r>
            <a:endParaRPr lang="en-US" sz="3150" dirty="0"/>
          </a:p>
        </p:txBody>
      </p:sp>
      <p:sp>
        <p:nvSpPr>
          <p:cNvPr id="4" name="Shape 2"/>
          <p:cNvSpPr/>
          <p:nvPr/>
        </p:nvSpPr>
        <p:spPr>
          <a:xfrm>
            <a:off x="815975" y="1751211"/>
            <a:ext cx="7063317" cy="3634317"/>
          </a:xfrm>
          <a:prstGeom prst="roundRect">
            <a:avLst>
              <a:gd name="adj" fmla="val 2708"/>
            </a:avLst>
          </a:prstGeom>
          <a:solidFill>
            <a:srgbClr val="FFFFFF"/>
          </a:solidFill>
          <a:ln w="6350">
            <a:solidFill>
              <a:srgbClr val="DDE3EC"/>
            </a:solidFill>
            <a:prstDash val="solid"/>
          </a:ln>
        </p:spPr>
        <p:txBody>
          <a:bodyPr/>
          <a:lstStyle/>
          <a:p>
            <a:endParaRPr/>
          </a:p>
        </p:txBody>
      </p:sp>
      <p:pic>
        <p:nvPicPr>
          <p:cNvPr id="5" name="Image 0" descr="The hardest and easiest CIFAR-10 training images by EL2N"/>
          <p:cNvPicPr>
            <a:picLocks noChangeAspect="1"/>
          </p:cNvPicPr>
          <p:nvPr/>
        </p:nvPicPr>
        <p:blipFill>
          <a:blip r:embed="rId3"/>
          <a:srcRect/>
          <a:stretch/>
        </p:blipFill>
        <p:spPr>
          <a:xfrm>
            <a:off x="918633" y="1853878"/>
            <a:ext cx="6858000" cy="3429000"/>
          </a:xfrm>
          <a:prstGeom prst="rect">
            <a:avLst/>
          </a:prstGeom>
        </p:spPr>
      </p:pic>
      <p:sp>
        <p:nvSpPr>
          <p:cNvPr id="6" name="Text 3"/>
          <p:cNvSpPr/>
          <p:nvPr/>
        </p:nvSpPr>
        <p:spPr>
          <a:xfrm>
            <a:off x="8187267" y="2223430"/>
            <a:ext cx="3287691"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Kept per class, hard 30%</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99967" y="2581548"/>
          <a:ext cx="2781300" cy="2331642"/>
        </p:xfrm>
        <a:graphic>
          <a:graphicData uri="http://schemas.openxmlformats.org/drawingml/2006/table">
            <a:tbl>
              <a:tblPr/>
              <a:tblGrid>
                <a:gridCol w="1529715">
                  <a:extLst>
                    <a:ext uri="{9D8B030D-6E8A-4147-A177-3AD203B41FA5}">
                      <a16:colId xmlns:a16="http://schemas.microsoft.com/office/drawing/2014/main" val="20000"/>
                    </a:ext>
                  </a:extLst>
                </a:gridCol>
                <a:gridCol w="1251585">
                  <a:extLst>
                    <a:ext uri="{9D8B030D-6E8A-4147-A177-3AD203B41FA5}">
                      <a16:colId xmlns:a16="http://schemas.microsoft.com/office/drawing/2014/main" val="20001"/>
                    </a:ext>
                  </a:extLst>
                </a:gridCol>
              </a:tblGrid>
              <a:tr h="388607">
                <a:tc>
                  <a:txBody>
                    <a:bodyPr/>
                    <a:lstStyle/>
                    <a:p>
                      <a:pPr marL="0" indent="0">
                        <a:lnSpc>
                          <a:spcPts val="1960"/>
                        </a:lnSpc>
                        <a:buNone/>
                      </a:pPr>
                      <a:r>
                        <a:rPr lang="en-US" sz="1400" b="1" dirty="0">
                          <a:solidFill>
                            <a:srgbClr val="14213D"/>
                          </a:solidFill>
                          <a:latin typeface="Arial" pitchFamily="34" charset="0"/>
                          <a:ea typeface="Arial" pitchFamily="34" charset="-122"/>
                          <a:cs typeface="Arial" pitchFamily="34" charset="-120"/>
                        </a:rPr>
                        <a:t>Class</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Images</a:t>
                      </a:r>
                      <a:endParaRPr lang="en-US" sz="1400" dirty="0">
                        <a:latin typeface="Arial" charset="0"/>
                        <a:ea typeface="Arial" charset="0"/>
                        <a:cs typeface="Arial" charset="0"/>
                      </a:endParaRPr>
                    </a:p>
                  </a:txBody>
                  <a:tcPr marL="76200" marR="76200" marT="63500" marB="6350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886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Cats</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B8461A"/>
                          </a:solidFill>
                          <a:latin typeface="Arial" pitchFamily="34" charset="0"/>
                          <a:ea typeface="Arial" pitchFamily="34" charset="-122"/>
                          <a:cs typeface="Arial" pitchFamily="34" charset="-120"/>
                        </a:rPr>
                        <a:t>2,790</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86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Dogs</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B8461A"/>
                          </a:solidFill>
                          <a:latin typeface="Arial" pitchFamily="34" charset="0"/>
                          <a:ea typeface="Arial" pitchFamily="34" charset="-122"/>
                          <a:cs typeface="Arial" pitchFamily="34" charset="-120"/>
                        </a:rPr>
                        <a:t>2,441</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886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Ships</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F5FAE"/>
                          </a:solidFill>
                          <a:latin typeface="Arial" pitchFamily="34" charset="0"/>
                          <a:ea typeface="Arial" pitchFamily="34" charset="-122"/>
                          <a:cs typeface="Arial" pitchFamily="34" charset="-120"/>
                        </a:rPr>
                        <a:t>841</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86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Cars</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F5FAE"/>
                          </a:solidFill>
                          <a:latin typeface="Arial" pitchFamily="34" charset="0"/>
                          <a:ea typeface="Arial" pitchFamily="34" charset="-122"/>
                          <a:cs typeface="Arial" pitchFamily="34" charset="-120"/>
                        </a:rPr>
                        <a:t>666</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r h="388607">
                <a:tc>
                  <a:txBody>
                    <a:bodyPr/>
                    <a:lstStyle/>
                    <a:p>
                      <a:pPr marL="0" indent="0">
                        <a:lnSpc>
                          <a:spcPts val="1960"/>
                        </a:lnSpc>
                        <a:buNone/>
                      </a:pPr>
                      <a:r>
                        <a:rPr lang="en-US" sz="1400" dirty="0">
                          <a:solidFill>
                            <a:srgbClr val="5B6475"/>
                          </a:solidFill>
                          <a:latin typeface="Arial" pitchFamily="34" charset="0"/>
                          <a:ea typeface="Arial" pitchFamily="34" charset="-122"/>
                          <a:cs typeface="Arial" pitchFamily="34" charset="-120"/>
                        </a:rPr>
                        <a:t>Even share</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5B6475"/>
                          </a:solidFill>
                          <a:latin typeface="Arial" pitchFamily="34" charset="0"/>
                          <a:ea typeface="Arial" pitchFamily="34" charset="-122"/>
                          <a:cs typeface="Arial" pitchFamily="34" charset="-120"/>
                        </a:rPr>
                        <a:t>1,500</a:t>
                      </a:r>
                      <a:endParaRPr lang="en-US" sz="1400" dirty="0">
                        <a:latin typeface="Arial" charset="0"/>
                        <a:ea typeface="Arial" charset="0"/>
                        <a:cs typeface="Arial" charset="0"/>
                      </a:endParaRPr>
                    </a:p>
                  </a:txBody>
                  <a:tcPr marL="76200" marR="76200" marT="63500" marB="635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812800" y="5596012"/>
            <a:ext cx="10883392" cy="27139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Two problems: many unclear or wrongly labelled pictures, and far more cats and dogs than cars and </a:t>
            </a:r>
            <a:r>
              <a:rPr lang="en-US" sz="1400" dirty="0" smtClean="0">
                <a:solidFill>
                  <a:srgbClr val="14213D"/>
                </a:solidFill>
                <a:latin typeface="Arial" pitchFamily="34" charset="0"/>
                <a:ea typeface="Arial" pitchFamily="34" charset="-122"/>
                <a:cs typeface="Arial" pitchFamily="34" charset="-120"/>
              </a:rPr>
              <a:t>ships after pruning.</a:t>
            </a:r>
            <a:endParaRPr lang="en-US" sz="1400" dirty="0"/>
          </a:p>
        </p:txBody>
      </p:sp>
      <p:sp>
        <p:nvSpPr>
          <p:cNvPr id="9" name="Text 5"/>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0" name="Text 6"/>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14</a:t>
            </a:r>
            <a:endParaRPr lang="en-US" sz="1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2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Measured: the scorer costs more than a full run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6083300" cy="2197035"/>
        </p:xfrm>
        <a:graphic>
          <a:graphicData uri="http://schemas.openxmlformats.org/drawingml/2006/table">
            <a:tbl>
              <a:tblPr/>
              <a:tblGrid>
                <a:gridCol w="1703324">
                  <a:extLst>
                    <a:ext uri="{9D8B030D-6E8A-4147-A177-3AD203B41FA5}">
                      <a16:colId xmlns:a16="http://schemas.microsoft.com/office/drawing/2014/main" val="20000"/>
                    </a:ext>
                  </a:extLst>
                </a:gridCol>
                <a:gridCol w="1824990">
                  <a:extLst>
                    <a:ext uri="{9D8B030D-6E8A-4147-A177-3AD203B41FA5}">
                      <a16:colId xmlns:a16="http://schemas.microsoft.com/office/drawing/2014/main" val="20001"/>
                    </a:ext>
                  </a:extLst>
                </a:gridCol>
                <a:gridCol w="1216660">
                  <a:extLst>
                    <a:ext uri="{9D8B030D-6E8A-4147-A177-3AD203B41FA5}">
                      <a16:colId xmlns:a16="http://schemas.microsoft.com/office/drawing/2014/main" val="20002"/>
                    </a:ext>
                  </a:extLst>
                </a:gridCol>
                <a:gridCol w="1338326">
                  <a:extLst>
                    <a:ext uri="{9D8B030D-6E8A-4147-A177-3AD203B41FA5}">
                      <a16:colId xmlns:a16="http://schemas.microsoft.com/office/drawing/2014/main" val="20003"/>
                    </a:ext>
                  </a:extLst>
                </a:gridCol>
              </a:tblGrid>
              <a:tr h="439407">
                <a:tc>
                  <a:txBody>
                    <a:bodyPr/>
                    <a:lstStyle/>
                    <a:p>
                      <a:pPr marL="0" indent="0">
                        <a:lnSpc>
                          <a:spcPts val="1960"/>
                        </a:lnSpc>
                        <a:buNone/>
                      </a:pPr>
                      <a:r>
                        <a:rPr lang="en-US" sz="1400" b="1" dirty="0">
                          <a:solidFill>
                            <a:srgbClr val="FBFBF8"/>
                          </a:solidFill>
                          <a:latin typeface="Arial" pitchFamily="34" charset="0"/>
                          <a:ea typeface="Arial" pitchFamily="34" charset="-122"/>
                          <a:cs typeface="Arial" pitchFamily="34" charset="-120"/>
                        </a:rPr>
                        <a:t>Scorer</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BFBF8"/>
                          </a:solidFill>
                          <a:latin typeface="Arial" pitchFamily="34" charset="0"/>
                          <a:ea typeface="Arial" pitchFamily="34" charset="-122"/>
                          <a:cs typeface="Arial" pitchFamily="34" charset="-120"/>
                        </a:rPr>
                        <a:t>Train, ep. 1–20</a:t>
                      </a:r>
                      <a:endParaRPr lang="en-US" sz="1400" dirty="0">
                        <a:latin typeface="Arial" charset="0"/>
                        <a:ea typeface="Arial" charset="0"/>
                        <a:cs typeface="Arial" charset="0"/>
                      </a:endParaRPr>
                    </a:p>
                  </a:txBody>
                  <a:tcPr marL="114300" marR="1143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BFBF8"/>
                          </a:solidFill>
                          <a:latin typeface="Arial" pitchFamily="34" charset="0"/>
                          <a:ea typeface="Arial" pitchFamily="34" charset="-122"/>
                          <a:cs typeface="Arial" pitchFamily="34" charset="-120"/>
                        </a:rPr>
                        <a:t>EL2N</a:t>
                      </a:r>
                      <a:endParaRPr lang="en-US" sz="1400" dirty="0">
                        <a:latin typeface="Arial" charset="0"/>
                        <a:ea typeface="Arial" charset="0"/>
                        <a:cs typeface="Arial" charset="0"/>
                      </a:endParaRPr>
                    </a:p>
                  </a:txBody>
                  <a:tcPr marL="114300" marR="1143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960"/>
                        </a:lnSpc>
                        <a:buNone/>
                      </a:pPr>
                      <a:r>
                        <a:rPr lang="en-US" sz="1400" b="1" dirty="0">
                          <a:solidFill>
                            <a:srgbClr val="FBFBF8"/>
                          </a:solidFill>
                          <a:latin typeface="Arial" pitchFamily="34" charset="0"/>
                          <a:ea typeface="Arial" pitchFamily="34" charset="-122"/>
                          <a:cs typeface="Arial" pitchFamily="34" charset="-120"/>
                        </a:rPr>
                        <a:t>Total</a:t>
                      </a:r>
                      <a:endParaRPr lang="en-US" sz="1400" dirty="0">
                        <a:latin typeface="Arial" charset="0"/>
                        <a:ea typeface="Arial" charset="0"/>
                        <a:cs typeface="Arial" charset="0"/>
                      </a:endParaRPr>
                    </a:p>
                  </a:txBody>
                  <a:tcPr marL="114300" marR="1143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394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seed 1000</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54.16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0.67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54.83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4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seed 1001</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54.75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0.67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55.42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4394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seed 1002</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54.85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0.67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55.52 s</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439407">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S (sum)</a:t>
                      </a:r>
                      <a:endParaRPr lang="en-US" sz="14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B8BFC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8BFC7"/>
                      </a:solidFill>
                      <a:prstDash val="solid"/>
                      <a:round/>
                      <a:headEnd type="none" w="med" len="med"/>
                      <a:tailEnd type="none" w="med" len="med"/>
                    </a:lnB>
                    <a:solidFill>
                      <a:srgbClr val="E6EFFA"/>
                    </a:solidFill>
                  </a:tcPr>
                </a:tc>
                <a:tc>
                  <a:txBody>
                    <a:bodyPr/>
                    <a:lstStyle/>
                    <a:p>
                      <a:pPr marL="0" indent="0" algn="r">
                        <a:lnSpc>
                          <a:spcPts val="1960"/>
                        </a:lnSpc>
                        <a:buNone/>
                      </a:pPr>
                      <a:endParaRPr lang="en-US" sz="1400" dirty="0">
                        <a:latin typeface="Arial" charset="0"/>
                        <a:ea typeface="Arial" charset="0"/>
                        <a:cs typeface="Arial" charset="0"/>
                      </a:endParaRPr>
                    </a:p>
                  </a:txBody>
                  <a:tcPr marL="114300" marR="114300" marT="88900" marB="88900">
                    <a:lnL w="12700" cap="flat" cmpd="sng" algn="ctr">
                      <a:solidFill>
                        <a:srgbClr val="B8BFC7"/>
                      </a:solidFill>
                      <a:prstDash val="solid"/>
                      <a:round/>
                      <a:headEnd type="none" w="med" len="med"/>
                      <a:tailEnd type="none" w="med" len="med"/>
                    </a:lnL>
                    <a:lnR w="12700" cap="flat" cmpd="sng" algn="ctr">
                      <a:solidFill>
                        <a:srgbClr val="B8BFC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8BFC7"/>
                      </a:solidFill>
                      <a:prstDash val="solid"/>
                      <a:round/>
                      <a:headEnd type="none" w="med" len="med"/>
                      <a:tailEnd type="none" w="med" len="med"/>
                    </a:lnB>
                    <a:solidFill>
                      <a:srgbClr val="E6EFFA"/>
                    </a:solidFill>
                  </a:tcPr>
                </a:tc>
                <a:tc>
                  <a:txBody>
                    <a:bodyPr/>
                    <a:lstStyle/>
                    <a:p>
                      <a:pPr marL="0" indent="0" algn="r">
                        <a:lnSpc>
                          <a:spcPts val="1960"/>
                        </a:lnSpc>
                        <a:buNone/>
                      </a:pPr>
                      <a:endParaRPr lang="en-US" sz="1400" dirty="0">
                        <a:latin typeface="Arial" charset="0"/>
                        <a:ea typeface="Arial" charset="0"/>
                        <a:cs typeface="Arial" charset="0"/>
                      </a:endParaRPr>
                    </a:p>
                  </a:txBody>
                  <a:tcPr marL="114300" marR="114300" marT="88900" marB="88900">
                    <a:lnL w="12700" cap="flat" cmpd="sng" algn="ctr">
                      <a:solidFill>
                        <a:srgbClr val="B8BFC7"/>
                      </a:solidFill>
                      <a:prstDash val="solid"/>
                      <a:round/>
                      <a:headEnd type="none" w="med" len="med"/>
                      <a:tailEnd type="none" w="med" len="med"/>
                    </a:lnL>
                    <a:lnR w="12700" cap="flat" cmpd="sng" algn="ctr">
                      <a:solidFill>
                        <a:srgbClr val="B8BFC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8BFC7"/>
                      </a:solidFill>
                      <a:prstDash val="solid"/>
                      <a:round/>
                      <a:headEnd type="none" w="med" len="med"/>
                      <a:tailEnd type="none" w="med" len="med"/>
                    </a:lnB>
                    <a:solidFill>
                      <a:srgbClr val="E6EFFA"/>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165.8 s</a:t>
                      </a:r>
                      <a:endParaRPr lang="en-US" sz="1400" dirty="0">
                        <a:latin typeface="Arial" charset="0"/>
                        <a:ea typeface="Arial" charset="0"/>
                        <a:cs typeface="Arial" charset="0"/>
                      </a:endParaRPr>
                    </a:p>
                  </a:txBody>
                  <a:tcPr marL="114300" marR="114300" marT="88900" marB="88900">
                    <a:lnL w="12700" cap="flat" cmpd="sng" algn="ctr">
                      <a:solidFill>
                        <a:srgbClr val="B8BFC7"/>
                      </a:solidFill>
                      <a:prstDash val="solid"/>
                      <a:round/>
                      <a:headEnd type="none" w="med" len="med"/>
                      <a:tailEnd type="none" w="med" len="med"/>
                    </a:lnL>
                    <a:lnR w="12700" cap="flat" cmpd="sng" algn="ctr">
                      <a:solidFill>
                        <a:srgbClr val="B8BFC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8BFC7"/>
                      </a:solidFill>
                      <a:prstDash val="solid"/>
                      <a:round/>
                      <a:headEnd type="none" w="med" len="med"/>
                      <a:tailEnd type="none" w="med" len="med"/>
                    </a:lnB>
                    <a:solidFill>
                      <a:srgbClr val="E6EFFA"/>
                    </a:solidFill>
                  </a:tcPr>
                </a:tc>
                <a:extLst>
                  <a:ext uri="{0D108BD9-81ED-4DB2-BD59-A6C34878D82A}">
                    <a16:rowId xmlns:a16="http://schemas.microsoft.com/office/drawing/2014/main" val="10004"/>
                  </a:ext>
                </a:extLst>
              </a:tr>
            </a:tbl>
          </a:graphicData>
        </a:graphic>
      </p:graphicFrame>
      <p:sp>
        <p:nvSpPr>
          <p:cNvPr id="5" name="Text 2"/>
          <p:cNvSpPr/>
          <p:nvPr/>
        </p:nvSpPr>
        <p:spPr>
          <a:xfrm>
            <a:off x="7213600" y="1803338"/>
            <a:ext cx="429056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F = one full run</a:t>
            </a:r>
            <a:endParaRPr lang="en-US" sz="1400" dirty="0"/>
          </a:p>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 2.38 min = </a:t>
            </a:r>
            <a:r>
              <a:rPr lang="en-US" sz="1400" b="1" dirty="0">
                <a:solidFill>
                  <a:srgbClr val="14213D"/>
                </a:solidFill>
                <a:latin typeface="Arial" pitchFamily="34" charset="0"/>
                <a:ea typeface="Arial" pitchFamily="34" charset="-122"/>
                <a:cs typeface="Arial" pitchFamily="34" charset="-120"/>
              </a:rPr>
              <a:t>143.0 s</a:t>
            </a:r>
            <a:endParaRPr lang="en-US" sz="1400" dirty="0"/>
          </a:p>
        </p:txBody>
      </p:sp>
      <p:sp>
        <p:nvSpPr>
          <p:cNvPr id="6" name="Shape 3"/>
          <p:cNvSpPr/>
          <p:nvPr/>
        </p:nvSpPr>
        <p:spPr>
          <a:xfrm>
            <a:off x="7213600" y="2428156"/>
            <a:ext cx="4165600" cy="1026120"/>
          </a:xfrm>
          <a:prstGeom prst="roundRect">
            <a:avLst>
              <a:gd name="adj" fmla="val 9901"/>
            </a:avLst>
          </a:prstGeom>
          <a:solidFill>
            <a:srgbClr val="FBE7DD"/>
          </a:solidFill>
          <a:ln/>
        </p:spPr>
        <p:txBody>
          <a:bodyPr/>
          <a:lstStyle/>
          <a:p>
            <a:endParaRPr/>
          </a:p>
        </p:txBody>
      </p:sp>
      <p:sp>
        <p:nvSpPr>
          <p:cNvPr id="7" name="Text 4"/>
          <p:cNvSpPr/>
          <p:nvPr/>
        </p:nvSpPr>
        <p:spPr>
          <a:xfrm>
            <a:off x="7391400" y="2605956"/>
            <a:ext cx="3924300" cy="238720"/>
          </a:xfrm>
          <a:prstGeom prst="rect">
            <a:avLst/>
          </a:prstGeom>
          <a:noFill/>
          <a:ln/>
        </p:spPr>
        <p:txBody>
          <a:bodyPr wrap="square" lIns="0" tIns="0" rIns="0" bIns="0" rtlCol="0" anchor="t">
            <a:normAutofit/>
          </a:bodyPr>
          <a:lstStyle/>
          <a:p>
            <a:pPr marL="0" indent="0" algn="l">
              <a:lnSpc>
                <a:spcPts val="1680"/>
              </a:lnSpc>
              <a:buNone/>
            </a:pPr>
            <a:r>
              <a:rPr lang="en-US" sz="1200" b="1" dirty="0" smtClean="0">
                <a:solidFill>
                  <a:srgbClr val="B8461A"/>
                </a:solidFill>
                <a:latin typeface="Arial" pitchFamily="34" charset="0"/>
                <a:ea typeface="Arial" pitchFamily="34" charset="-122"/>
                <a:cs typeface="Arial" pitchFamily="34" charset="-120"/>
              </a:rPr>
              <a:t>165.8 / </a:t>
            </a:r>
            <a:r>
              <a:rPr lang="en-US" sz="1200" b="1" dirty="0">
                <a:solidFill>
                  <a:srgbClr val="B8461A"/>
                </a:solidFill>
                <a:latin typeface="Arial" pitchFamily="34" charset="0"/>
                <a:ea typeface="Arial" pitchFamily="34" charset="-122"/>
                <a:cs typeface="Arial" pitchFamily="34" charset="-120"/>
              </a:rPr>
              <a:t>143.0</a:t>
            </a:r>
            <a:endParaRPr lang="en-US" sz="1200" dirty="0"/>
          </a:p>
        </p:txBody>
      </p:sp>
      <p:sp>
        <p:nvSpPr>
          <p:cNvPr id="8" name="Text 5"/>
          <p:cNvSpPr/>
          <p:nvPr/>
        </p:nvSpPr>
        <p:spPr>
          <a:xfrm>
            <a:off x="7391400" y="2870076"/>
            <a:ext cx="39243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8461A"/>
                </a:solidFill>
                <a:latin typeface="Georgia" pitchFamily="18" charset="0"/>
                <a:ea typeface="Georgia" pitchFamily="18" charset="-122"/>
                <a:cs typeface="Georgia" pitchFamily="18" charset="-120"/>
              </a:rPr>
              <a:t>S = 1.16 F</a:t>
            </a:r>
            <a:endParaRPr lang="en-US" sz="3200" dirty="0"/>
          </a:p>
        </p:txBody>
      </p:sp>
      <p:sp>
        <p:nvSpPr>
          <p:cNvPr id="10" name="Text 7"/>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1" name="Text 8"/>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15</a:t>
            </a:r>
            <a:endParaRPr lang="en-US" sz="1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2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RESULTS</a:t>
            </a:r>
            <a:endParaRPr lang="en-US" sz="1200" dirty="0"/>
          </a:p>
        </p:txBody>
      </p:sp>
      <p:sp>
        <p:nvSpPr>
          <p:cNvPr id="3" name="Text 1"/>
          <p:cNvSpPr>
            <a:spLocks noGrp="1"/>
          </p:cNvSpPr>
          <p:nvPr>
            <p:ph type="title"/>
          </p:nvPr>
        </p:nvSpPr>
        <p:spPr>
          <a:xfrm>
            <a:off x="813816" y="1106424"/>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Counting the scoring cost changes the story</a:t>
            </a:r>
            <a:endParaRPr lang="en-US" sz="3200" dirty="0"/>
          </a:p>
        </p:txBody>
      </p:sp>
      <p:sp>
        <p:nvSpPr>
          <p:cNvPr id="4" name="Shape 2"/>
          <p:cNvSpPr/>
          <p:nvPr/>
        </p:nvSpPr>
        <p:spPr>
          <a:xfrm>
            <a:off x="815975" y="1781113"/>
            <a:ext cx="4904317" cy="3939117"/>
          </a:xfrm>
          <a:prstGeom prst="roundRect">
            <a:avLst>
              <a:gd name="adj" fmla="val 2499"/>
            </a:avLst>
          </a:prstGeom>
          <a:solidFill>
            <a:srgbClr val="FFFFFF"/>
          </a:solidFill>
          <a:ln w="6350">
            <a:solidFill>
              <a:srgbClr val="DDE3EC"/>
            </a:solidFill>
            <a:prstDash val="solid"/>
          </a:ln>
        </p:spPr>
        <p:txBody>
          <a:bodyPr/>
          <a:lstStyle/>
          <a:p>
            <a:endParaRPr/>
          </a:p>
        </p:txBody>
      </p:sp>
      <p:pic>
        <p:nvPicPr>
          <p:cNvPr id="5" name="Image 0" descr="Total cost against accuracy for full data, random, shorter training and keep-hard EL2N"/>
          <p:cNvPicPr>
            <a:picLocks noChangeAspect="1"/>
          </p:cNvPicPr>
          <p:nvPr/>
        </p:nvPicPr>
        <p:blipFill>
          <a:blip r:embed="rId3"/>
          <a:srcRect t="-30" b="-30"/>
          <a:stretch/>
        </p:blipFill>
        <p:spPr>
          <a:xfrm>
            <a:off x="918633" y="1883767"/>
            <a:ext cx="4699000" cy="3733800"/>
          </a:xfrm>
          <a:prstGeom prst="rect">
            <a:avLst/>
          </a:prstGeom>
        </p:spPr>
      </p:pic>
      <p:sp>
        <p:nvSpPr>
          <p:cNvPr id="6" name="Text 3"/>
          <p:cNvSpPr/>
          <p:nvPr/>
        </p:nvSpPr>
        <p:spPr>
          <a:xfrm>
            <a:off x="6079067" y="2473065"/>
            <a:ext cx="5459137"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Across:</a:t>
            </a:r>
            <a:r>
              <a:rPr lang="en-US" sz="1400" dirty="0">
                <a:solidFill>
                  <a:srgbClr val="14213D"/>
                </a:solidFill>
                <a:latin typeface="Arial" pitchFamily="34" charset="0"/>
                <a:ea typeface="Arial" pitchFamily="34" charset="-122"/>
                <a:cs typeface="Arial" pitchFamily="34" charset="-120"/>
              </a:rPr>
              <a:t> total time (scoring + training), as % of one full run. </a:t>
            </a:r>
            <a:r>
              <a:rPr lang="en-US" sz="1400" b="1" dirty="0">
                <a:solidFill>
                  <a:srgbClr val="14213D"/>
                </a:solidFill>
                <a:latin typeface="Arial" pitchFamily="34" charset="0"/>
                <a:ea typeface="Arial" pitchFamily="34" charset="-122"/>
                <a:cs typeface="Arial" pitchFamily="34" charset="-120"/>
              </a:rPr>
              <a:t>Up:</a:t>
            </a:r>
            <a:r>
              <a:rPr lang="en-US" sz="1400" dirty="0">
                <a:solidFill>
                  <a:srgbClr val="14213D"/>
                </a:solidFill>
                <a:latin typeface="Arial" pitchFamily="34" charset="0"/>
                <a:ea typeface="Arial" pitchFamily="34" charset="-122"/>
                <a:cs typeface="Arial" pitchFamily="34" charset="-120"/>
              </a:rPr>
              <a:t> accuracy. Top-left is best.</a:t>
            </a:r>
            <a:endParaRPr lang="en-US" sz="1400" dirty="0"/>
          </a:p>
        </p:txBody>
      </p:sp>
      <p:sp>
        <p:nvSpPr>
          <p:cNvPr id="7" name="Text 4"/>
          <p:cNvSpPr/>
          <p:nvPr/>
        </p:nvSpPr>
        <p:spPr>
          <a:xfrm>
            <a:off x="6079067" y="3123282"/>
            <a:ext cx="545913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Green (keep-hard) points cost </a:t>
            </a:r>
            <a:r>
              <a:rPr lang="en-US" sz="1400" b="1" dirty="0">
                <a:solidFill>
                  <a:srgbClr val="14213D"/>
                </a:solidFill>
                <a:latin typeface="Arial" pitchFamily="34" charset="0"/>
                <a:ea typeface="Arial" pitchFamily="34" charset="-122"/>
                <a:cs typeface="Arial" pitchFamily="34" charset="-120"/>
              </a:rPr>
              <a:t>145–200%</a:t>
            </a:r>
            <a:r>
              <a:rPr lang="en-US" sz="1400" dirty="0">
                <a:solidFill>
                  <a:srgbClr val="14213D"/>
                </a:solidFill>
                <a:latin typeface="Arial" pitchFamily="34" charset="0"/>
                <a:ea typeface="Arial" pitchFamily="34" charset="-122"/>
                <a:cs typeface="Arial" pitchFamily="34" charset="-120"/>
              </a:rPr>
              <a:t>: the scores alone already cost 116%.</a:t>
            </a:r>
            <a:endParaRPr lang="en-US" sz="1400" dirty="0"/>
          </a:p>
        </p:txBody>
      </p:sp>
      <p:sp>
        <p:nvSpPr>
          <p:cNvPr id="8" name="Text 5"/>
          <p:cNvSpPr/>
          <p:nvPr/>
        </p:nvSpPr>
        <p:spPr>
          <a:xfrm>
            <a:off x="6079067" y="3773487"/>
            <a:ext cx="545913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Example, keep-hard 50%: (2.76 + 1.11 min) ÷ 2.38 min = 163%.</a:t>
            </a:r>
            <a:endParaRPr lang="en-US" sz="1400" dirty="0"/>
          </a:p>
        </p:txBody>
      </p:sp>
      <p:sp>
        <p:nvSpPr>
          <p:cNvPr id="9" name="Text 6"/>
          <p:cNvSpPr/>
          <p:nvPr/>
        </p:nvSpPr>
        <p:spPr>
          <a:xfrm>
            <a:off x="6079067" y="4174803"/>
            <a:ext cx="5300133" cy="853414"/>
          </a:xfrm>
          <a:prstGeom prst="roundRect">
            <a:avLst>
              <a:gd name="adj" fmla="val 11905"/>
            </a:avLst>
          </a:prstGeom>
          <a:solidFill>
            <a:srgbClr val="FBE7DD"/>
          </a:solidFill>
          <a:ln/>
        </p:spPr>
        <p:txBody>
          <a:bodyPr wrap="square" lIns="148042" tIns="148042" rIns="0" bIns="122642" rtlCol="0" anchor="t">
            <a:normAutofit/>
          </a:bodyPr>
          <a:lstStyle/>
          <a:p>
            <a:pPr marL="0" indent="0" algn="l">
              <a:lnSpc>
                <a:spcPts val="1960"/>
              </a:lnSpc>
              <a:buNone/>
            </a:pPr>
            <a:r>
              <a:rPr lang="en-US" sz="1400" dirty="0">
                <a:solidFill>
                  <a:srgbClr val="14213D"/>
                </a:solidFill>
                <a:latin typeface="Arial" pitchFamily="34" charset="0"/>
                <a:ea typeface="Arial" pitchFamily="34" charset="-122"/>
                <a:cs typeface="Arial" pitchFamily="34" charset="-120"/>
              </a:rPr>
              <a:t>To save time we would need f &lt; 1 − 1.16 = </a:t>
            </a:r>
            <a:r>
              <a:rPr lang="en-US" sz="1400" b="1" dirty="0">
                <a:solidFill>
                  <a:srgbClr val="14213D"/>
                </a:solidFill>
                <a:latin typeface="Arial" pitchFamily="34" charset="0"/>
                <a:ea typeface="Arial" pitchFamily="34" charset="-122"/>
                <a:cs typeface="Arial" pitchFamily="34" charset="-120"/>
              </a:rPr>
              <a:t>−0.16</a:t>
            </a:r>
            <a:r>
              <a:rPr lang="en-US" sz="1400" dirty="0">
                <a:solidFill>
                  <a:srgbClr val="14213D"/>
                </a:solidFill>
                <a:latin typeface="Arial" pitchFamily="34" charset="0"/>
                <a:ea typeface="Arial" pitchFamily="34" charset="-122"/>
                <a:cs typeface="Arial" pitchFamily="34" charset="-120"/>
              </a:rPr>
              <a:t>. Impossible: this scorer never pays for itself.</a:t>
            </a:r>
            <a:endParaRPr lang="en-US" sz="1400" dirty="0"/>
          </a:p>
        </p:txBody>
      </p:sp>
      <p:sp>
        <p:nvSpPr>
          <p:cNvPr id="10" name="Text 7"/>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1" name="Text 8"/>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16</a:t>
            </a:r>
            <a:endParaRPr lang="en-US" sz="1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3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WHAT WE LEARNED</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Four lessons from the mid-term</a:t>
            </a:r>
            <a:endParaRPr lang="en-US" sz="3200" dirty="0"/>
          </a:p>
        </p:txBody>
      </p:sp>
      <p:sp>
        <p:nvSpPr>
          <p:cNvPr id="4" name="Shape 2"/>
          <p:cNvSpPr/>
          <p:nvPr/>
        </p:nvSpPr>
        <p:spPr>
          <a:xfrm>
            <a:off x="812800" y="1904938"/>
            <a:ext cx="5181600" cy="1269868"/>
          </a:xfrm>
          <a:prstGeom prst="roundRect">
            <a:avLst>
              <a:gd name="adj" fmla="val 8001"/>
            </a:avLst>
          </a:prstGeom>
          <a:solidFill>
            <a:srgbClr val="FFFFFF"/>
          </a:solidFill>
          <a:ln w="12700">
            <a:solidFill>
              <a:srgbClr val="DDE3EC"/>
            </a:solidFill>
          </a:ln>
        </p:spPr>
        <p:txBody>
          <a:bodyPr/>
          <a:lstStyle/>
          <a:p>
            <a:endParaRPr/>
          </a:p>
        </p:txBody>
      </p:sp>
      <p:sp>
        <p:nvSpPr>
          <p:cNvPr id="5" name="Shape 3"/>
          <p:cNvSpPr/>
          <p:nvPr/>
        </p:nvSpPr>
        <p:spPr>
          <a:xfrm>
            <a:off x="812800" y="1904938"/>
            <a:ext cx="5181600" cy="1269868"/>
          </a:xfrm>
          <a:custGeom>
            <a:avLst/>
            <a:gdLst/>
            <a:ahLst/>
            <a:cxnLst/>
            <a:rect l="l" t="t" r="r" b="b"/>
            <a:pathLst>
              <a:path w="5181600" h="1269868">
                <a:moveTo>
                  <a:pt x="101600" y="1269868"/>
                </a:moveTo>
                <a:lnTo>
                  <a:pt x="101600" y="1269868"/>
                </a:lnTo>
                <a:arcTo wR="101600" hR="101600" stAng="5400000" swAng="5400000"/>
                <a:lnTo>
                  <a:pt x="0" y="101600"/>
                </a:lnTo>
                <a:arcTo wR="101600" hR="101600" stAng="10800000" swAng="5400000"/>
                <a:lnTo>
                  <a:pt x="101600" y="0"/>
                </a:lnTo>
                <a:arcTo wR="63500" hR="101600" stAng="16200000" swAng="-5400000"/>
                <a:lnTo>
                  <a:pt x="38100" y="1168268"/>
                </a:lnTo>
                <a:arcTo wR="63500" hR="101600" stAng="10800000" swAng="-5400000"/>
                <a:close/>
              </a:path>
            </a:pathLst>
          </a:custGeom>
          <a:solidFill>
            <a:srgbClr val="2A78D6"/>
          </a:solidFill>
          <a:ln/>
        </p:spPr>
        <p:txBody>
          <a:bodyPr/>
          <a:lstStyle/>
          <a:p>
            <a:endParaRPr/>
          </a:p>
        </p:txBody>
      </p:sp>
      <p:sp>
        <p:nvSpPr>
          <p:cNvPr id="6" name="Text 4"/>
          <p:cNvSpPr/>
          <p:nvPr/>
        </p:nvSpPr>
        <p:spPr>
          <a:xfrm>
            <a:off x="1104900" y="2158938"/>
            <a:ext cx="477456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1 · Hard beats random at 90–50%</a:t>
            </a:r>
            <a:endParaRPr lang="en-US" sz="1600" dirty="0"/>
          </a:p>
        </p:txBody>
      </p:sp>
      <p:sp>
        <p:nvSpPr>
          <p:cNvPr id="7" name="Text 5"/>
          <p:cNvSpPr/>
          <p:nvPr/>
        </p:nvSpPr>
        <p:spPr>
          <a:xfrm>
            <a:off x="1104900" y="2478956"/>
            <a:ext cx="4774565" cy="246327"/>
          </a:xfrm>
          <a:prstGeom prst="rect">
            <a:avLst/>
          </a:prstGeom>
          <a:noFill/>
          <a:ln/>
        </p:spPr>
        <p:txBody>
          <a:bodyPr wrap="square" lIns="0" tIns="0" rIns="0" bIns="0" rtlCol="0" anchor="t">
            <a:normAutofit/>
          </a:bodyPr>
          <a:lstStyle/>
          <a:p>
            <a:pPr marL="0" indent="0" algn="l">
              <a:lnSpc>
                <a:spcPts val="1740"/>
              </a:lnSpc>
              <a:buNone/>
            </a:pPr>
            <a:endParaRPr lang="en-US" sz="1200" dirty="0"/>
          </a:p>
        </p:txBody>
      </p:sp>
      <p:sp>
        <p:nvSpPr>
          <p:cNvPr id="8" name="Shape 6"/>
          <p:cNvSpPr/>
          <p:nvPr/>
        </p:nvSpPr>
        <p:spPr>
          <a:xfrm>
            <a:off x="6197600" y="1904938"/>
            <a:ext cx="5181600" cy="1269868"/>
          </a:xfrm>
          <a:prstGeom prst="roundRect">
            <a:avLst>
              <a:gd name="adj" fmla="val 8001"/>
            </a:avLst>
          </a:prstGeom>
          <a:solidFill>
            <a:srgbClr val="FFFFFF"/>
          </a:solidFill>
          <a:ln w="12700">
            <a:solidFill>
              <a:srgbClr val="DDE3EC"/>
            </a:solidFill>
          </a:ln>
        </p:spPr>
        <p:txBody>
          <a:bodyPr/>
          <a:lstStyle/>
          <a:p>
            <a:endParaRPr/>
          </a:p>
        </p:txBody>
      </p:sp>
      <p:sp>
        <p:nvSpPr>
          <p:cNvPr id="9" name="Shape 7"/>
          <p:cNvSpPr/>
          <p:nvPr/>
        </p:nvSpPr>
        <p:spPr>
          <a:xfrm>
            <a:off x="6197600" y="1904938"/>
            <a:ext cx="5181600" cy="1269868"/>
          </a:xfrm>
          <a:custGeom>
            <a:avLst/>
            <a:gdLst/>
            <a:ahLst/>
            <a:cxnLst/>
            <a:rect l="l" t="t" r="r" b="b"/>
            <a:pathLst>
              <a:path w="5181600" h="1269868">
                <a:moveTo>
                  <a:pt x="101600" y="1269868"/>
                </a:moveTo>
                <a:lnTo>
                  <a:pt x="101600" y="1269868"/>
                </a:lnTo>
                <a:arcTo wR="101600" hR="101600" stAng="5400000" swAng="5400000"/>
                <a:lnTo>
                  <a:pt x="0" y="101600"/>
                </a:lnTo>
                <a:arcTo wR="101600" hR="101600" stAng="10800000" swAng="5400000"/>
                <a:lnTo>
                  <a:pt x="101600" y="0"/>
                </a:lnTo>
                <a:arcTo wR="63500" hR="101600" stAng="16200000" swAng="-5400000"/>
                <a:lnTo>
                  <a:pt x="38100" y="1168268"/>
                </a:lnTo>
                <a:arcTo wR="63500" hR="101600" stAng="10800000" swAng="-5400000"/>
                <a:close/>
              </a:path>
            </a:pathLst>
          </a:custGeom>
          <a:solidFill>
            <a:srgbClr val="B8461A"/>
          </a:solidFill>
          <a:ln/>
        </p:spPr>
        <p:txBody>
          <a:bodyPr/>
          <a:lstStyle/>
          <a:p>
            <a:endParaRPr/>
          </a:p>
        </p:txBody>
      </p:sp>
      <p:sp>
        <p:nvSpPr>
          <p:cNvPr id="10" name="Text 8"/>
          <p:cNvSpPr/>
          <p:nvPr/>
        </p:nvSpPr>
        <p:spPr>
          <a:xfrm>
            <a:off x="6489700" y="2158938"/>
            <a:ext cx="477456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2 · Hard collapses at 30%</a:t>
            </a:r>
            <a:endParaRPr lang="en-US" sz="1600" dirty="0"/>
          </a:p>
        </p:txBody>
      </p:sp>
      <p:sp>
        <p:nvSpPr>
          <p:cNvPr id="11" name="Text 9"/>
          <p:cNvSpPr/>
          <p:nvPr/>
        </p:nvSpPr>
        <p:spPr>
          <a:xfrm>
            <a:off x="6489700" y="2478956"/>
            <a:ext cx="4774565" cy="467254"/>
          </a:xfrm>
          <a:prstGeom prst="rect">
            <a:avLst/>
          </a:prstGeom>
          <a:noFill/>
          <a:ln/>
        </p:spPr>
        <p:txBody>
          <a:bodyPr wrap="square" lIns="0" tIns="0" rIns="0" bIns="0" rtlCol="0" anchor="t">
            <a:normAutofit/>
          </a:bodyPr>
          <a:lstStyle/>
          <a:p>
            <a:pPr marL="0" indent="0" algn="l">
              <a:lnSpc>
                <a:spcPts val="1740"/>
              </a:lnSpc>
              <a:buNone/>
            </a:pPr>
            <a:endParaRPr lang="en-US" sz="1200" dirty="0"/>
          </a:p>
        </p:txBody>
      </p:sp>
      <p:sp>
        <p:nvSpPr>
          <p:cNvPr id="12" name="Shape 10"/>
          <p:cNvSpPr/>
          <p:nvPr/>
        </p:nvSpPr>
        <p:spPr>
          <a:xfrm>
            <a:off x="869950" y="3321351"/>
            <a:ext cx="5181600" cy="1269868"/>
          </a:xfrm>
          <a:prstGeom prst="roundRect">
            <a:avLst>
              <a:gd name="adj" fmla="val 8001"/>
            </a:avLst>
          </a:prstGeom>
          <a:solidFill>
            <a:srgbClr val="FFFFFF"/>
          </a:solidFill>
          <a:ln w="12700">
            <a:solidFill>
              <a:srgbClr val="DDE3EC"/>
            </a:solidFill>
          </a:ln>
        </p:spPr>
        <p:txBody>
          <a:bodyPr/>
          <a:lstStyle/>
          <a:p>
            <a:endParaRPr/>
          </a:p>
        </p:txBody>
      </p:sp>
      <p:sp>
        <p:nvSpPr>
          <p:cNvPr id="13" name="Shape 11"/>
          <p:cNvSpPr/>
          <p:nvPr/>
        </p:nvSpPr>
        <p:spPr>
          <a:xfrm>
            <a:off x="812800" y="3378002"/>
            <a:ext cx="5181600" cy="1269868"/>
          </a:xfrm>
          <a:custGeom>
            <a:avLst/>
            <a:gdLst/>
            <a:ahLst/>
            <a:cxnLst/>
            <a:rect l="l" t="t" r="r" b="b"/>
            <a:pathLst>
              <a:path w="5181600" h="1269868">
                <a:moveTo>
                  <a:pt x="101600" y="1269868"/>
                </a:moveTo>
                <a:lnTo>
                  <a:pt x="101600" y="1269868"/>
                </a:lnTo>
                <a:arcTo wR="101600" hR="101600" stAng="5400000" swAng="5400000"/>
                <a:lnTo>
                  <a:pt x="0" y="101600"/>
                </a:lnTo>
                <a:arcTo wR="101600" hR="101600" stAng="10800000" swAng="5400000"/>
                <a:lnTo>
                  <a:pt x="101600" y="0"/>
                </a:lnTo>
                <a:arcTo wR="63500" hR="101600" stAng="16200000" swAng="-5400000"/>
                <a:lnTo>
                  <a:pt x="38100" y="1168268"/>
                </a:lnTo>
                <a:arcTo wR="63500" hR="101600" stAng="10800000" swAng="-5400000"/>
                <a:close/>
              </a:path>
            </a:pathLst>
          </a:custGeom>
          <a:solidFill>
            <a:srgbClr val="2A78D6"/>
          </a:solidFill>
          <a:ln/>
        </p:spPr>
        <p:txBody>
          <a:bodyPr/>
          <a:lstStyle/>
          <a:p>
            <a:endParaRPr/>
          </a:p>
        </p:txBody>
      </p:sp>
      <p:sp>
        <p:nvSpPr>
          <p:cNvPr id="14" name="Text 12"/>
          <p:cNvSpPr/>
          <p:nvPr/>
        </p:nvSpPr>
        <p:spPr>
          <a:xfrm>
            <a:off x="1104900" y="3632002"/>
            <a:ext cx="477456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3 · Training shorter is a strong rival</a:t>
            </a:r>
            <a:endParaRPr lang="en-US" sz="1600" dirty="0"/>
          </a:p>
        </p:txBody>
      </p:sp>
      <p:sp>
        <p:nvSpPr>
          <p:cNvPr id="15" name="Text 13"/>
          <p:cNvSpPr/>
          <p:nvPr/>
        </p:nvSpPr>
        <p:spPr>
          <a:xfrm>
            <a:off x="1104900" y="3952032"/>
            <a:ext cx="4774565" cy="246327"/>
          </a:xfrm>
          <a:prstGeom prst="rect">
            <a:avLst/>
          </a:prstGeom>
          <a:noFill/>
          <a:ln/>
        </p:spPr>
        <p:txBody>
          <a:bodyPr wrap="square" lIns="0" tIns="0" rIns="0" bIns="0" rtlCol="0" anchor="t">
            <a:normAutofit/>
          </a:bodyPr>
          <a:lstStyle/>
          <a:p>
            <a:pPr marL="0" indent="0" algn="l">
              <a:lnSpc>
                <a:spcPts val="1740"/>
              </a:lnSpc>
              <a:buNone/>
            </a:pPr>
            <a:endParaRPr lang="en-US" sz="1200" dirty="0"/>
          </a:p>
        </p:txBody>
      </p:sp>
      <p:sp>
        <p:nvSpPr>
          <p:cNvPr id="16" name="Shape 14"/>
          <p:cNvSpPr/>
          <p:nvPr/>
        </p:nvSpPr>
        <p:spPr>
          <a:xfrm>
            <a:off x="6197600" y="3378002"/>
            <a:ext cx="5181600" cy="1269868"/>
          </a:xfrm>
          <a:prstGeom prst="roundRect">
            <a:avLst>
              <a:gd name="adj" fmla="val 8001"/>
            </a:avLst>
          </a:prstGeom>
          <a:solidFill>
            <a:srgbClr val="FFFFFF"/>
          </a:solidFill>
          <a:ln w="12700">
            <a:solidFill>
              <a:srgbClr val="DDE3EC"/>
            </a:solidFill>
          </a:ln>
        </p:spPr>
        <p:txBody>
          <a:bodyPr/>
          <a:lstStyle/>
          <a:p>
            <a:endParaRPr/>
          </a:p>
        </p:txBody>
      </p:sp>
      <p:sp>
        <p:nvSpPr>
          <p:cNvPr id="17" name="Shape 15"/>
          <p:cNvSpPr/>
          <p:nvPr/>
        </p:nvSpPr>
        <p:spPr>
          <a:xfrm>
            <a:off x="6197600" y="3378002"/>
            <a:ext cx="5181600" cy="1269868"/>
          </a:xfrm>
          <a:custGeom>
            <a:avLst/>
            <a:gdLst/>
            <a:ahLst/>
            <a:cxnLst/>
            <a:rect l="l" t="t" r="r" b="b"/>
            <a:pathLst>
              <a:path w="5181600" h="1269868">
                <a:moveTo>
                  <a:pt x="101600" y="1269868"/>
                </a:moveTo>
                <a:lnTo>
                  <a:pt x="101600" y="1269868"/>
                </a:lnTo>
                <a:arcTo wR="101600" hR="101600" stAng="5400000" swAng="5400000"/>
                <a:lnTo>
                  <a:pt x="0" y="101600"/>
                </a:lnTo>
                <a:arcTo wR="101600" hR="101600" stAng="10800000" swAng="5400000"/>
                <a:lnTo>
                  <a:pt x="101600" y="0"/>
                </a:lnTo>
                <a:arcTo wR="63500" hR="101600" stAng="16200000" swAng="-5400000"/>
                <a:lnTo>
                  <a:pt x="38100" y="1168268"/>
                </a:lnTo>
                <a:arcTo wR="63500" hR="101600" stAng="10800000" swAng="-5400000"/>
                <a:close/>
              </a:path>
            </a:pathLst>
          </a:custGeom>
          <a:solidFill>
            <a:srgbClr val="B8461A"/>
          </a:solidFill>
          <a:ln/>
        </p:spPr>
        <p:txBody>
          <a:bodyPr/>
          <a:lstStyle/>
          <a:p>
            <a:endParaRPr/>
          </a:p>
        </p:txBody>
      </p:sp>
      <p:sp>
        <p:nvSpPr>
          <p:cNvPr id="18" name="Text 16"/>
          <p:cNvSpPr/>
          <p:nvPr/>
        </p:nvSpPr>
        <p:spPr>
          <a:xfrm>
            <a:off x="6489700" y="3632002"/>
            <a:ext cx="477456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4 · The standard scorer costs too much</a:t>
            </a:r>
            <a:endParaRPr lang="en-US" sz="1600" dirty="0"/>
          </a:p>
        </p:txBody>
      </p:sp>
      <p:sp>
        <p:nvSpPr>
          <p:cNvPr id="19" name="Text 17"/>
          <p:cNvSpPr/>
          <p:nvPr/>
        </p:nvSpPr>
        <p:spPr>
          <a:xfrm>
            <a:off x="6489700" y="3952032"/>
            <a:ext cx="4774565" cy="467254"/>
          </a:xfrm>
          <a:prstGeom prst="rect">
            <a:avLst/>
          </a:prstGeom>
          <a:noFill/>
          <a:ln/>
        </p:spPr>
        <p:txBody>
          <a:bodyPr wrap="square" lIns="0" tIns="0" rIns="0" bIns="0" rtlCol="0" anchor="t">
            <a:normAutofit/>
          </a:bodyPr>
          <a:lstStyle/>
          <a:p>
            <a:pPr marL="0" indent="0" algn="l">
              <a:lnSpc>
                <a:spcPts val="1740"/>
              </a:lnSpc>
              <a:buNone/>
            </a:pPr>
            <a:endParaRPr lang="en-US" sz="1200" dirty="0"/>
          </a:p>
        </p:txBody>
      </p:sp>
      <p:sp>
        <p:nvSpPr>
          <p:cNvPr id="20" name="Text 18"/>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1" name="Text 19"/>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17</a:t>
            </a:r>
            <a:endParaRPr lang="en-US" sz="1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AFTER MID-TERM</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Plan 1: make the scorer cheaper</a:t>
            </a:r>
            <a:endParaRPr lang="en-US" sz="3200" dirty="0"/>
          </a:p>
        </p:txBody>
      </p:sp>
      <p:sp>
        <p:nvSpPr>
          <p:cNvPr id="4" name="Shape 2"/>
          <p:cNvSpPr/>
          <p:nvPr/>
        </p:nvSpPr>
        <p:spPr>
          <a:xfrm>
            <a:off x="812800" y="1803350"/>
            <a:ext cx="10561320" cy="1600200"/>
          </a:xfrm>
          <a:prstGeom prst="roundRect">
            <a:avLst>
              <a:gd name="adj" fmla="val 3364"/>
            </a:avLst>
          </a:prstGeom>
          <a:solidFill>
            <a:srgbClr val="E6EFFA"/>
          </a:solidFill>
          <a:ln/>
        </p:spPr>
        <p:txBody>
          <a:bodyPr/>
          <a:lstStyle/>
          <a:p>
            <a:endParaRPr/>
          </a:p>
        </p:txBody>
      </p:sp>
      <p:sp>
        <p:nvSpPr>
          <p:cNvPr id="5" name="Text 3"/>
          <p:cNvSpPr/>
          <p:nvPr/>
        </p:nvSpPr>
        <p:spPr>
          <a:xfrm>
            <a:off x="1076706" y="2031950"/>
            <a:ext cx="10058400" cy="1280160"/>
          </a:xfrm>
          <a:prstGeom prst="rect">
            <a:avLst/>
          </a:prstGeom>
          <a:noFill/>
          <a:ln/>
        </p:spPr>
        <p:txBody>
          <a:bodyPr wrap="square" lIns="0" tIns="0" rIns="0" bIns="0" rtlCol="0" anchor="t">
            <a:normAutofit/>
          </a:bodyPr>
          <a:lstStyle/>
          <a:p>
            <a:pPr marL="142494" indent="-142494" algn="l">
              <a:lnSpc>
                <a:spcPts val="1800"/>
              </a:lnSpc>
              <a:buSzPct val="100000"/>
              <a:buChar char="•"/>
            </a:pPr>
            <a:r>
              <a:rPr lang="en-US" sz="1200" b="1" dirty="0">
                <a:solidFill>
                  <a:srgbClr val="14213D"/>
                </a:solidFill>
                <a:latin typeface="Arial" pitchFamily="34" charset="0"/>
                <a:ea typeface="Arial" pitchFamily="34" charset="-122"/>
                <a:cs typeface="Arial" pitchFamily="34" charset="-120"/>
              </a:rPr>
              <a:t>Score earlier:</a:t>
            </a:r>
            <a:r>
              <a:rPr lang="en-US" sz="1200" dirty="0">
                <a:solidFill>
                  <a:srgbClr val="14213D"/>
                </a:solidFill>
                <a:latin typeface="Arial" pitchFamily="34" charset="0"/>
                <a:ea typeface="Arial" pitchFamily="34" charset="-122"/>
                <a:cs typeface="Arial" pitchFamily="34" charset="-120"/>
              </a:rPr>
              <a:t> take EL2N at epoch 1 or 5 instead of epoch 20. Why: the scorer’s time grows with every epoch, so early scores cost far less.</a:t>
            </a:r>
            <a:endParaRPr lang="en-US" sz="1200" dirty="0"/>
          </a:p>
          <a:p>
            <a:pPr marL="142494" indent="-142494" algn="l">
              <a:lnSpc>
                <a:spcPts val="1800"/>
              </a:lnSpc>
              <a:buSzPct val="100000"/>
              <a:buChar char="•"/>
            </a:pPr>
            <a:r>
              <a:rPr lang="en-US" sz="1200" b="1" dirty="0">
                <a:solidFill>
                  <a:srgbClr val="14213D"/>
                </a:solidFill>
                <a:latin typeface="Arial" pitchFamily="34" charset="0"/>
                <a:ea typeface="Arial" pitchFamily="34" charset="-122"/>
                <a:cs typeface="Arial" pitchFamily="34" charset="-120"/>
              </a:rPr>
              <a:t>Use a small scorer:</a:t>
            </a:r>
            <a:r>
              <a:rPr lang="en-US" sz="1200" dirty="0">
                <a:solidFill>
                  <a:srgbClr val="14213D"/>
                </a:solidFill>
                <a:latin typeface="Arial" pitchFamily="34" charset="0"/>
                <a:ea typeface="Arial" pitchFamily="34" charset="-122"/>
                <a:cs typeface="Arial" pitchFamily="34" charset="-120"/>
              </a:rPr>
              <a:t> a tiny network, about 100 times smaller than ResNet-18. Why: much less work per picture. Does a weak model still know which pictures are hard?</a:t>
            </a:r>
            <a:endParaRPr lang="en-US" sz="1200" dirty="0"/>
          </a:p>
          <a:p>
            <a:pPr marL="142494" indent="-142494" algn="l">
              <a:lnSpc>
                <a:spcPts val="1800"/>
              </a:lnSpc>
              <a:buSzPct val="100000"/>
              <a:buChar char="•"/>
            </a:pPr>
            <a:r>
              <a:rPr lang="en-US" sz="1200" b="1" dirty="0">
                <a:solidFill>
                  <a:srgbClr val="14213D"/>
                </a:solidFill>
                <a:latin typeface="Arial" pitchFamily="34" charset="0"/>
                <a:ea typeface="Arial" pitchFamily="34" charset="-122"/>
                <a:cs typeface="Arial" pitchFamily="34" charset="-120"/>
              </a:rPr>
              <a:t>Compare with the mid-term reference:</a:t>
            </a:r>
            <a:r>
              <a:rPr lang="en-US" sz="1200" dirty="0">
                <a:solidFill>
                  <a:srgbClr val="14213D"/>
                </a:solidFill>
                <a:latin typeface="Arial" pitchFamily="34" charset="0"/>
                <a:ea typeface="Arial" pitchFamily="34" charset="-122"/>
                <a:cs typeface="Arial" pitchFamily="34" charset="-120"/>
              </a:rPr>
              <a:t> do the cheap scores still beat random, and does scoring + training finally take less than one full run?</a:t>
            </a:r>
            <a:endParaRPr lang="en-US" sz="1200" dirty="0"/>
          </a:p>
        </p:txBody>
      </p:sp>
      <p:sp>
        <p:nvSpPr>
          <p:cNvPr id="8" name="Text 5"/>
          <p:cNvSpPr/>
          <p:nvPr/>
        </p:nvSpPr>
        <p:spPr>
          <a:xfrm>
            <a:off x="813816" y="3657600"/>
            <a:ext cx="10561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Goal: bring the scoring time well below one full training run, so that pruning finally saves time.</a:t>
            </a:r>
            <a:endParaRPr lang="en-US" sz="1200" dirty="0"/>
          </a:p>
        </p:txBody>
      </p:sp>
      <p:sp>
        <p:nvSpPr>
          <p:cNvPr id="9" name="Text 6"/>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10" name="Text 7"/>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18</a:t>
            </a:r>
            <a:endParaRPr lang="en-US" sz="1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AFTER MID-TERM</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Plan 2: fix the 30% problem and check our results</a:t>
            </a:r>
            <a:endParaRPr lang="en-US" sz="3200" dirty="0"/>
          </a:p>
        </p:txBody>
      </p:sp>
      <p:sp>
        <p:nvSpPr>
          <p:cNvPr id="4" name="Shape 2"/>
          <p:cNvSpPr/>
          <p:nvPr/>
        </p:nvSpPr>
        <p:spPr>
          <a:xfrm>
            <a:off x="812800" y="1803350"/>
            <a:ext cx="3420533" cy="1297781"/>
          </a:xfrm>
          <a:prstGeom prst="roundRect">
            <a:avLst>
              <a:gd name="adj" fmla="val 7829"/>
            </a:avLst>
          </a:prstGeom>
          <a:solidFill>
            <a:srgbClr val="FBE7DD"/>
          </a:solidFill>
          <a:ln/>
        </p:spPr>
        <p:txBody>
          <a:bodyPr/>
          <a:lstStyle/>
          <a:p>
            <a:endParaRPr/>
          </a:p>
        </p:txBody>
      </p:sp>
      <p:sp>
        <p:nvSpPr>
          <p:cNvPr id="5" name="Text 3"/>
          <p:cNvSpPr/>
          <p:nvPr/>
        </p:nvSpPr>
        <p:spPr>
          <a:xfrm>
            <a:off x="1003300" y="1993850"/>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61A"/>
                </a:solidFill>
                <a:latin typeface="Arial" pitchFamily="34" charset="0"/>
                <a:ea typeface="Arial" pitchFamily="34" charset="-122"/>
                <a:cs typeface="Arial" pitchFamily="34" charset="-120"/>
              </a:rPr>
              <a:t>Skip the very hardest</a:t>
            </a:r>
            <a:endParaRPr lang="en-US" sz="1400" dirty="0"/>
          </a:p>
        </p:txBody>
      </p:sp>
      <p:sp>
        <p:nvSpPr>
          <p:cNvPr id="6" name="Text 4"/>
          <p:cNvSpPr/>
          <p:nvPr/>
        </p:nvSpPr>
        <p:spPr>
          <a:xfrm>
            <a:off x="1003300" y="2270671"/>
            <a:ext cx="313071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Drop the hardest 5% first (often wrongly labelled), then keep the next hardest.</a:t>
            </a:r>
            <a:endParaRPr lang="en-US" sz="1200" dirty="0"/>
          </a:p>
        </p:txBody>
      </p:sp>
      <p:sp>
        <p:nvSpPr>
          <p:cNvPr id="7" name="Shape 5"/>
          <p:cNvSpPr/>
          <p:nvPr/>
        </p:nvSpPr>
        <p:spPr>
          <a:xfrm>
            <a:off x="4385733" y="1803350"/>
            <a:ext cx="3420533" cy="1297781"/>
          </a:xfrm>
          <a:prstGeom prst="roundRect">
            <a:avLst>
              <a:gd name="adj" fmla="val 7829"/>
            </a:avLst>
          </a:prstGeom>
          <a:solidFill>
            <a:srgbClr val="FBE7DD"/>
          </a:solidFill>
          <a:ln/>
        </p:spPr>
        <p:txBody>
          <a:bodyPr/>
          <a:lstStyle/>
          <a:p>
            <a:endParaRPr/>
          </a:p>
        </p:txBody>
      </p:sp>
      <p:sp>
        <p:nvSpPr>
          <p:cNvPr id="8" name="Text 6"/>
          <p:cNvSpPr/>
          <p:nvPr/>
        </p:nvSpPr>
        <p:spPr>
          <a:xfrm>
            <a:off x="4576233" y="1993850"/>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61A"/>
                </a:solidFill>
                <a:latin typeface="Arial" pitchFamily="34" charset="0"/>
                <a:ea typeface="Arial" pitchFamily="34" charset="-122"/>
                <a:cs typeface="Arial" pitchFamily="34" charset="-120"/>
              </a:rPr>
              <a:t>Balance the classes</a:t>
            </a:r>
            <a:endParaRPr lang="en-US" sz="1400" dirty="0"/>
          </a:p>
        </p:txBody>
      </p:sp>
      <p:sp>
        <p:nvSpPr>
          <p:cNvPr id="9" name="Text 7"/>
          <p:cNvSpPr/>
          <p:nvPr/>
        </p:nvSpPr>
        <p:spPr>
          <a:xfrm>
            <a:off x="4576233" y="2270671"/>
            <a:ext cx="3130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Keep the same share of every class: at 30% we kept 2,790 cats but only 666 cars.</a:t>
            </a:r>
            <a:endParaRPr lang="en-US" sz="1200" dirty="0"/>
          </a:p>
        </p:txBody>
      </p:sp>
      <p:sp>
        <p:nvSpPr>
          <p:cNvPr id="10" name="Shape 8"/>
          <p:cNvSpPr/>
          <p:nvPr/>
        </p:nvSpPr>
        <p:spPr>
          <a:xfrm>
            <a:off x="7958667" y="1803350"/>
            <a:ext cx="3420533" cy="1297781"/>
          </a:xfrm>
          <a:prstGeom prst="roundRect">
            <a:avLst>
              <a:gd name="adj" fmla="val 7829"/>
            </a:avLst>
          </a:prstGeom>
          <a:solidFill>
            <a:srgbClr val="FBE7DD"/>
          </a:solidFill>
          <a:ln/>
        </p:spPr>
        <p:txBody>
          <a:bodyPr/>
          <a:lstStyle/>
          <a:p>
            <a:endParaRPr/>
          </a:p>
        </p:txBody>
      </p:sp>
      <p:sp>
        <p:nvSpPr>
          <p:cNvPr id="11" name="Text 9"/>
          <p:cNvSpPr/>
          <p:nvPr/>
        </p:nvSpPr>
        <p:spPr>
          <a:xfrm>
            <a:off x="8149167" y="1993850"/>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61A"/>
                </a:solidFill>
                <a:latin typeface="Arial" pitchFamily="34" charset="0"/>
                <a:ea typeface="Arial" pitchFamily="34" charset="-122"/>
                <a:cs typeface="Arial" pitchFamily="34" charset="-120"/>
              </a:rPr>
              <a:t>Forgetting score</a:t>
            </a:r>
            <a:endParaRPr lang="en-US" sz="1400" dirty="0"/>
          </a:p>
        </p:txBody>
      </p:sp>
      <p:sp>
        <p:nvSpPr>
          <p:cNvPr id="12" name="Text 10"/>
          <p:cNvSpPr/>
          <p:nvPr/>
        </p:nvSpPr>
        <p:spPr>
          <a:xfrm>
            <a:off x="8149167" y="2270671"/>
            <a:ext cx="3130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A second way to measure “hard”: do our findings depend on EL2N alone?</a:t>
            </a:r>
            <a:endParaRPr lang="en-US" sz="1200" dirty="0"/>
          </a:p>
        </p:txBody>
      </p:sp>
      <p:sp>
        <p:nvSpPr>
          <p:cNvPr id="16" name="Shape 14"/>
          <p:cNvSpPr/>
          <p:nvPr/>
        </p:nvSpPr>
        <p:spPr>
          <a:xfrm>
            <a:off x="1940917" y="3276471"/>
            <a:ext cx="3420533" cy="1084461"/>
          </a:xfrm>
          <a:prstGeom prst="roundRect">
            <a:avLst>
              <a:gd name="adj" fmla="val 9369"/>
            </a:avLst>
          </a:prstGeom>
          <a:solidFill>
            <a:srgbClr val="FBE7DD"/>
          </a:solidFill>
          <a:ln/>
        </p:spPr>
        <p:txBody>
          <a:bodyPr/>
          <a:lstStyle/>
          <a:p>
            <a:endParaRPr/>
          </a:p>
        </p:txBody>
      </p:sp>
      <p:sp>
        <p:nvSpPr>
          <p:cNvPr id="17" name="Text 15"/>
          <p:cNvSpPr/>
          <p:nvPr/>
        </p:nvSpPr>
        <p:spPr>
          <a:xfrm>
            <a:off x="2356590" y="3474492"/>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61A"/>
                </a:solidFill>
                <a:latin typeface="Arial" pitchFamily="34" charset="0"/>
                <a:ea typeface="Arial" pitchFamily="34" charset="-122"/>
                <a:cs typeface="Arial" pitchFamily="34" charset="-120"/>
              </a:rPr>
              <a:t>CIFAR-100</a:t>
            </a:r>
            <a:endParaRPr lang="en-US" sz="1400" dirty="0"/>
          </a:p>
        </p:txBody>
      </p:sp>
      <p:sp>
        <p:nvSpPr>
          <p:cNvPr id="18" name="Text 16"/>
          <p:cNvSpPr/>
          <p:nvPr/>
        </p:nvSpPr>
        <p:spPr>
          <a:xfrm>
            <a:off x="2356590" y="3720852"/>
            <a:ext cx="3130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100 classes, 500 pictures each: do our findings hold on harder data?</a:t>
            </a:r>
            <a:endParaRPr lang="en-US" sz="1200" dirty="0"/>
          </a:p>
        </p:txBody>
      </p:sp>
      <p:sp>
        <p:nvSpPr>
          <p:cNvPr id="19" name="Shape 17"/>
          <p:cNvSpPr/>
          <p:nvPr/>
        </p:nvSpPr>
        <p:spPr>
          <a:xfrm>
            <a:off x="6141592" y="3256170"/>
            <a:ext cx="3420533" cy="1084461"/>
          </a:xfrm>
          <a:prstGeom prst="roundRect">
            <a:avLst>
              <a:gd name="adj" fmla="val 9369"/>
            </a:avLst>
          </a:prstGeom>
          <a:solidFill>
            <a:srgbClr val="FBE7DD"/>
          </a:solidFill>
          <a:ln/>
        </p:spPr>
        <p:txBody>
          <a:bodyPr/>
          <a:lstStyle/>
          <a:p>
            <a:endParaRPr/>
          </a:p>
        </p:txBody>
      </p:sp>
      <p:sp>
        <p:nvSpPr>
          <p:cNvPr id="20" name="Text 18"/>
          <p:cNvSpPr/>
          <p:nvPr/>
        </p:nvSpPr>
        <p:spPr>
          <a:xfrm>
            <a:off x="6433226" y="3458893"/>
            <a:ext cx="313071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8461A"/>
                </a:solidFill>
                <a:latin typeface="Arial" pitchFamily="34" charset="0"/>
                <a:ea typeface="Arial" pitchFamily="34" charset="-122"/>
                <a:cs typeface="Arial" pitchFamily="34" charset="-120"/>
              </a:rPr>
              <a:t>Same rules</a:t>
            </a:r>
            <a:endParaRPr lang="en-US" sz="1400" dirty="0"/>
          </a:p>
        </p:txBody>
      </p:sp>
      <p:sp>
        <p:nvSpPr>
          <p:cNvPr id="21" name="Text 19"/>
          <p:cNvSpPr/>
          <p:nvPr/>
        </p:nvSpPr>
        <p:spPr>
          <a:xfrm>
            <a:off x="6433226" y="3753891"/>
            <a:ext cx="313071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Arial" pitchFamily="34" charset="0"/>
                <a:ea typeface="Arial" pitchFamily="34" charset="-122"/>
                <a:cs typeface="Arial" pitchFamily="34" charset="-120"/>
              </a:rPr>
              <a:t>Same recipe, 3 repeats, compared with random and fewer epochs, total time counted.</a:t>
            </a:r>
            <a:endParaRPr lang="en-US" sz="1200" dirty="0"/>
          </a:p>
        </p:txBody>
      </p:sp>
      <p:sp>
        <p:nvSpPr>
          <p:cNvPr id="22" name="Text 20"/>
          <p:cNvSpPr/>
          <p:nvPr/>
        </p:nvSpPr>
        <p:spPr>
          <a:xfrm>
            <a:off x="812800" y="459199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smtClean="0">
                <a:solidFill>
                  <a:srgbClr val="14213D"/>
                </a:solidFill>
                <a:latin typeface="Arial" pitchFamily="34" charset="0"/>
                <a:ea typeface="Arial" pitchFamily="34" charset="-122"/>
                <a:cs typeface="Arial" pitchFamily="34" charset="-120"/>
              </a:rPr>
              <a:t>.</a:t>
            </a:r>
            <a:endParaRPr lang="en-US" sz="1400" dirty="0"/>
          </a:p>
        </p:txBody>
      </p:sp>
      <p:sp>
        <p:nvSpPr>
          <p:cNvPr id="23" name="Text 21"/>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24" name="Text 22"/>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19</a:t>
            </a:r>
            <a:endParaRPr lang="en-US" sz="12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461A"/>
                </a:solidFill>
                <a:latin typeface="Arial" pitchFamily="34" charset="0"/>
                <a:ea typeface="Arial" pitchFamily="34" charset="-122"/>
                <a:cs typeface="Arial" pitchFamily="34" charset="-120"/>
              </a:rPr>
              <a:t>PRIOR WORK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The papers our idea comes from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3905227425"/>
              </p:ext>
            </p:extLst>
          </p:nvPr>
        </p:nvGraphicFramePr>
        <p:xfrm>
          <a:off x="2576662" y="1902299"/>
          <a:ext cx="6543294" cy="2570296"/>
        </p:xfrm>
        <a:graphic>
          <a:graphicData uri="http://schemas.openxmlformats.org/drawingml/2006/table">
            <a:tbl>
              <a:tblPr/>
              <a:tblGrid>
                <a:gridCol w="4854702">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tblGrid>
              <a:tr h="421614">
                <a:tc>
                  <a:txBody>
                    <a:bodyPr/>
                    <a:lstStyle/>
                    <a:p>
                      <a:pPr marL="0" indent="0">
                        <a:lnSpc>
                          <a:spcPts val="1820"/>
                        </a:lnSpc>
                        <a:buNone/>
                      </a:pPr>
                      <a:r>
                        <a:rPr lang="en-US" sz="1300" b="1" dirty="0">
                          <a:solidFill>
                            <a:srgbClr val="FBFBF8"/>
                          </a:solidFill>
                          <a:latin typeface="Arial" pitchFamily="34" charset="0"/>
                          <a:ea typeface="Arial" pitchFamily="34" charset="-122"/>
                          <a:cs typeface="Arial" pitchFamily="34" charset="-120"/>
                        </a:rPr>
                        <a:t>Paper</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Arial" pitchFamily="34" charset="0"/>
                          <a:ea typeface="Arial" pitchFamily="34" charset="-122"/>
                          <a:cs typeface="Arial" pitchFamily="34" charset="-120"/>
                        </a:rPr>
                        <a:t>Where</a:t>
                      </a:r>
                      <a:endParaRPr lang="en-US" sz="1300" dirty="0">
                        <a:latin typeface="Arial" charset="0"/>
                        <a:ea typeface="Arial" charset="0"/>
                        <a:cs typeface="Arial" charset="0"/>
                      </a:endParaRPr>
                    </a:p>
                  </a:txBody>
                  <a:tcPr marL="114300" marR="1143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21614">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hlinkClick r:id="rId3"/>
                        </a:rPr>
                        <a:t>Paul, Ganguli, Dziugaite: Deep Learning on a Data Diet</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NeurIPS 2021</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21614">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hlinkClick r:id="rId4"/>
                        </a:rPr>
                        <a:t>Toneva et al.: An Empirical Study of Example Forgetting</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ICLR 2019</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652727">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hlinkClick r:id="rId5"/>
                        </a:rPr>
                        <a:t>Coleman et al.: Selection via Proxy</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ICLR 2020</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652727">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hlinkClick r:id="rId6"/>
                        </a:rPr>
                        <a:t>Sorscher et al.: Beyond Neural Scaling Laws</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NeurIPS 2022</a:t>
                      </a:r>
                      <a:endParaRPr lang="en-US" sz="1300" dirty="0">
                        <a:latin typeface="Arial" charset="0"/>
                        <a:ea typeface="Arial" charset="0"/>
                        <a:cs typeface="Arial" charset="0"/>
                      </a:endParaRPr>
                    </a:p>
                  </a:txBody>
                  <a:tcPr marL="114300" marR="114300" marT="88900" marB="8890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6238280"/>
            <a:ext cx="22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5"/>
                </a:solidFill>
                <a:latin typeface="Arial" pitchFamily="34" charset="0"/>
                <a:ea typeface="Arial" pitchFamily="34" charset="-122"/>
                <a:cs typeface="Arial" pitchFamily="34" charset="-120"/>
              </a:rPr>
              <a:t>DataDiet · CS 725 mid-term</a:t>
            </a:r>
            <a:endParaRPr lang="en-US" sz="1200" dirty="0"/>
          </a:p>
        </p:txBody>
      </p:sp>
      <p:sp>
        <p:nvSpPr>
          <p:cNvPr id="6" name="Text 3"/>
          <p:cNvSpPr/>
          <p:nvPr/>
        </p:nvSpPr>
        <p:spPr>
          <a:xfrm>
            <a:off x="11018520" y="6238280"/>
            <a:ext cx="36576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5"/>
                </a:solidFill>
                <a:latin typeface="Arial" pitchFamily="34" charset="0"/>
                <a:ea typeface="Arial" pitchFamily="34" charset="-122"/>
                <a:cs typeface="Arial" pitchFamily="34" charset="-120"/>
              </a:rPr>
              <a:t>20</a:t>
            </a:r>
            <a:endParaRPr lang="en-US" sz="12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35">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4410015" y="3010507"/>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BFBF8"/>
                </a:solidFill>
                <a:latin typeface="Georgia" pitchFamily="18" charset="0"/>
                <a:ea typeface="Georgia" pitchFamily="18" charset="-122"/>
                <a:cs typeface="Georgia" pitchFamily="18" charset="-120"/>
              </a:rPr>
              <a:t>Thank </a:t>
            </a:r>
            <a:r>
              <a:rPr lang="en-US" sz="4800" b="1" i="0" dirty="0" smtClean="0">
                <a:solidFill>
                  <a:srgbClr val="FBFBF8"/>
                </a:solidFill>
                <a:latin typeface="Georgia" pitchFamily="18" charset="0"/>
                <a:ea typeface="Georgia" pitchFamily="18" charset="-122"/>
                <a:cs typeface="Georgia" pitchFamily="18" charset="-120"/>
              </a:rPr>
              <a:t>you</a:t>
            </a:r>
            <a:endParaRPr lang="en-US" sz="4800" dirty="0"/>
          </a:p>
        </p:txBody>
      </p:sp>
      <p:sp>
        <p:nvSpPr>
          <p:cNvPr id="3" name="Text 1"/>
          <p:cNvSpPr/>
          <p:nvPr/>
        </p:nvSpPr>
        <p:spPr>
          <a:xfrm>
            <a:off x="812800" y="3314700"/>
            <a:ext cx="9810750" cy="711200"/>
          </a:xfrm>
          <a:prstGeom prst="rect">
            <a:avLst/>
          </a:prstGeom>
          <a:noFill/>
          <a:ln/>
        </p:spPr>
        <p:txBody>
          <a:bodyPr wrap="square" lIns="0" tIns="0" rIns="0" bIns="0" rtlCol="0" anchor="t">
            <a:normAutofit/>
          </a:bodyPr>
          <a:lstStyle/>
          <a:p>
            <a:pPr marL="0" indent="0" algn="l">
              <a:lnSpc>
                <a:spcPts val="2700"/>
              </a:lnSpc>
              <a:buNone/>
            </a:pP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ataDiet Mid-Term Presentation">
  <a:themeElements>
    <a:clrScheme name="DataDiet Mid-Term Presentation">
      <a:dk1>
        <a:srgbClr val="14213D"/>
      </a:dk1>
      <a:lt1>
        <a:srgbClr val="FBFBF8"/>
      </a:lt1>
      <a:dk2>
        <a:srgbClr val="4E586C"/>
      </a:dk2>
      <a:lt2>
        <a:srgbClr val="E4E5E5"/>
      </a:lt2>
      <a:accent1>
        <a:srgbClr val="B8461A"/>
      </a:accent1>
      <a:accent2>
        <a:srgbClr val="1F5FAE"/>
      </a:accent2>
      <a:accent3>
        <a:srgbClr val="F39A72"/>
      </a:accent3>
      <a:accent4>
        <a:srgbClr val="5B6475"/>
      </a:accent4>
      <a:accent5>
        <a:srgbClr val="FBE7DD"/>
      </a:accent5>
      <a:accent6>
        <a:srgbClr val="4A5568"/>
      </a:accent6>
      <a:hlink>
        <a:srgbClr val="0563C1"/>
      </a:hlink>
      <a:folHlink>
        <a:srgbClr val="954F72"/>
      </a:folHlink>
    </a:clrScheme>
    <a:fontScheme name="DataDiet Mid-Term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6164</Words>
  <Application>Microsoft Office PowerPoint</Application>
  <PresentationFormat>Widescreen</PresentationFormat>
  <Paragraphs>545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Georgia</vt:lpstr>
      <vt:lpstr>Segoe UI</vt:lpstr>
      <vt:lpstr>DataDiet Mid-Term Presentation</vt:lpstr>
      <vt:lpstr>Train on Less == Pay for Less ?</vt:lpstr>
      <vt:lpstr>Training a network is expensive</vt:lpstr>
      <vt:lpstr>Not every training example is equally useful</vt:lpstr>
      <vt:lpstr>What “easy” and “hard” mean</vt:lpstr>
      <vt:lpstr>Data pruning: score, keep, train</vt:lpstr>
      <vt:lpstr>Problem: train on fewer pictures, keep the accuracy, and save total time</vt:lpstr>
      <vt:lpstr>What a “good subset” means</vt:lpstr>
      <vt:lpstr>How we measure cost</vt:lpstr>
      <vt:lpstr>Three experiments, run in order</vt:lpstr>
      <vt:lpstr>How the scorer is trained</vt:lpstr>
      <vt:lpstr>Baselines: full data, random, and training shorter</vt:lpstr>
      <vt:lpstr>The gap grows as the budget shrinks</vt:lpstr>
      <vt:lpstr>Keeping hard images beats random, until 30%</vt:lpstr>
      <vt:lpstr>Why 30% fails: the hardest images are messy</vt:lpstr>
      <vt:lpstr>Measured: the scorer costs more than a full run</vt:lpstr>
      <vt:lpstr>Counting the scoring cost changes the story</vt:lpstr>
      <vt:lpstr>Four lessons from the mid-term</vt:lpstr>
      <vt:lpstr>Plan 1: make the scorer cheaper</vt:lpstr>
      <vt:lpstr>Plan 2: fix the 30% problem and check our results</vt:lpstr>
      <vt:lpstr>The papers our idea comes from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DataDiet Mid-Term Presentation</dc:title>
  <dc:subject/>
  <dc:creator/>
  <cp:lastModifiedBy>Rahul Paul</cp:lastModifiedBy>
  <cp:revision>19</cp:revision>
  <dcterms:created xsi:type="dcterms:W3CDTF">2026-10-23T09:19:19Z</dcterms:created>
  <dcterms:modified xsi:type="dcterms:W3CDTF">2026-10-26T04:54:45Z</dcterms:modified>
</cp:coreProperties>
</file>